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0eb3069faf4131" /><Relationship Type="http://schemas.openxmlformats.org/officeDocument/2006/relationships/extended-properties" Target="/docProps/app.xml" Id="R8f39a43914be4fbb" /><Relationship Type="http://schemas.openxmlformats.org/officeDocument/2006/relationships/officeDocument" Target="/ppt/presentation.xml" Id="Rf2884286cd5c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c402b8c94450c"/>
  </p:sldMasterIdLst>
  <p:notesMasterIdLst>
    <p:notesMasterId xmlns:r="http://schemas.openxmlformats.org/officeDocument/2006/relationships" r:id="R8328093fa808486b"/>
  </p:notesMasterIdLst>
  <p:sldIdLst>
    <p:sldId xmlns:r="http://schemas.openxmlformats.org/officeDocument/2006/relationships" id="256" r:id="R0222d9aa33dc43c9"/>
    <p:sldId xmlns:r="http://schemas.openxmlformats.org/officeDocument/2006/relationships" id="257" r:id="R35aabcb6aedd404c"/>
    <p:sldId xmlns:r="http://schemas.openxmlformats.org/officeDocument/2006/relationships" id="258" r:id="Re8bde56a05be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98cd4d89d84b52" /><Relationship Type="http://schemas.openxmlformats.org/officeDocument/2006/relationships/slideMaster" Target="/ppt/slideMasters/slideMaster1.xml" Id="Raa0c402b8c94450c" /><Relationship Type="http://schemas.openxmlformats.org/officeDocument/2006/relationships/notesMaster" Target="/ppt/notesMasters/notesMaster1.xml" Id="R8328093fa808486b" /><Relationship Type="http://schemas.openxmlformats.org/officeDocument/2006/relationships/presProps" Target="/ppt/presProps.xml" Id="R211bc7bb3c134886" /><Relationship Type="http://schemas.openxmlformats.org/officeDocument/2006/relationships/tableStyles" Target="/ppt/tableStyles.xml" Id="Rfb04420b3c4a45f0" /><Relationship Type="http://schemas.openxmlformats.org/officeDocument/2006/relationships/slide" Target="/ppt/slides/slide1.xml" Id="R0222d9aa33dc43c9" /><Relationship Type="http://schemas.openxmlformats.org/officeDocument/2006/relationships/slide" Target="/ppt/slides/slide2.xml" Id="R35aabcb6aedd404c" /><Relationship Type="http://schemas.openxmlformats.org/officeDocument/2006/relationships/slide" Target="/ppt/slides/slide3.xml" Id="Re8bde56a05be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dc39df7d348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f1d437eccc4176" /><Relationship Type="http://schemas.openxmlformats.org/officeDocument/2006/relationships/notesMaster" Target="/ppt/notesMasters/notesMaster1.xml" Id="Rce9405b89550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d9775aaa747d6" /><Relationship Type="http://schemas.openxmlformats.org/officeDocument/2006/relationships/notesMaster" Target="/ppt/notesMasters/notesMaster1.xml" Id="Rdb3affd90e4445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77fda79f54a6a" /><Relationship Type="http://schemas.openxmlformats.org/officeDocument/2006/relationships/notesMaster" Target="/ppt/notesMasters/notesMaster1.xml" Id="Rb306a12cd12b47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开场提问：如果让一位新同事照着你的说明做，他在哪一步还需要追问？本节把这些需要追问的地方补成明确步骤、判断与例外处理。背景插画由 AI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环节是本课用于经验梳理的教学框架，可按任务调整。任务交代输入材料和输出成果，步骤交代动作，判断交代条件，例外交代缺失或冲突怎么处理，验收交代如何检查做对了。会议纪要中，负责人和期限来自原始记录，没有说清的地方应显式标记。Skill 的可复用指令、工作步骤和输出要求参考官方说明；验收与试跑参考测试指南。核查日期 2026-10-17。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https://developers.openai.com/blog/eval-skills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课堂案例为模拟材料。组织方式：个人写作 8 分钟，互换检查 2 分钟。提交的是工作流程草稿，不是安装好的 Skill。参考判断：初稿任务有负责人小林、期限周五下班前；预算仍待财务核实，不能写成预算已确定；联系人补充任务的负责人未明确，期限也未明确，应标记待确认。周二和周五为原文相对时间，没有会议日期时不推算具体日历日期。验收时检查能否追溯原话、是否区分已定与待确认、是否保留缺失信息。讲师参考答案与学员空白练习表分开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53a14db154b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1397b29bd46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ecfa240f548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2ee2fae3941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c0e4fce214a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2c6bac26048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2A836-2AC8-4646-9693-B0425CBF0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A03156-9C77-408F-B27F-82D589DC91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7DE62B-5CCA-4103-A71E-BE982F6DA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FCFAA-F1D4-4B9A-87DB-47C386BE1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AEACEB-9951-4689-A3D1-F4B10D054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A2D0D5-148A-4EC6-83D4-B8E2B412C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D56A38-D48A-4155-BFAE-372F01588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CB2ABD-1114-47EC-9835-2578BDFEC1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7357A-CF86-4313-8AA8-511903B4B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10F447-C37C-44D8-8E9B-8CD73DDD4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79c6b5be74171" /><Relationship Type="http://schemas.openxmlformats.org/officeDocument/2006/relationships/slideLayout" Target="/ppt/slideLayouts/slideLayout1.xml" Id="Re68cc3348ecd4f57" /><Relationship Type="http://schemas.openxmlformats.org/officeDocument/2006/relationships/slideLayout" Target="/ppt/slideLayouts/slideLayout2.xml" Id="Rac9c665c4daa4f83" /><Relationship Type="http://schemas.openxmlformats.org/officeDocument/2006/relationships/slideLayout" Target="/ppt/slideLayouts/slideLayout3.xml" Id="R608467bb17054a81" /><Relationship Type="http://schemas.openxmlformats.org/officeDocument/2006/relationships/slideLayout" Target="/ppt/slideLayouts/slideLayout4.xml" Id="Rf8b19a1871ca4448" /><Relationship Type="http://schemas.openxmlformats.org/officeDocument/2006/relationships/slideLayout" Target="/ppt/slideLayouts/slideLayout5.xml" Id="Rd38601cd7cdf4efd" /><Relationship Type="http://schemas.openxmlformats.org/officeDocument/2006/relationships/slideLayout" Target="/ppt/slideLayouts/slideLayout6.xml" Id="R594cd25a57094f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cc3348ecd4f57"/>
    <p:sldLayoutId xmlns:r="http://schemas.openxmlformats.org/officeDocument/2006/relationships" id="2147483650" r:id="Rac9c665c4daa4f83"/>
    <p:sldLayoutId xmlns:r="http://schemas.openxmlformats.org/officeDocument/2006/relationships" id="2147483651" r:id="R608467bb17054a81"/>
    <p:sldLayoutId xmlns:r="http://schemas.openxmlformats.org/officeDocument/2006/relationships" id="2147483652" r:id="Rf8b19a1871ca4448"/>
    <p:sldLayoutId xmlns:r="http://schemas.openxmlformats.org/officeDocument/2006/relationships" id="2147483653" r:id="Rd38601cd7cdf4efd"/>
    <p:sldLayoutId xmlns:r="http://schemas.openxmlformats.org/officeDocument/2006/relationships" id="2147483654" r:id="R594cd25a57094f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bcb00c2ee49e0" /><Relationship Type="http://schemas.openxmlformats.org/officeDocument/2006/relationships/image" Target="/ppt/media/image.png" Id="Reffd9ae02d004692" /><Relationship Type="http://schemas.openxmlformats.org/officeDocument/2006/relationships/image" Target="/ppt/media/image2.png" Id="R6d18288e29cf435f" /><Relationship Type="http://schemas.openxmlformats.org/officeDocument/2006/relationships/notesSlide" Target="/ppt/notesSlides/notesSlide1.xml" Id="Rf04d55d0f104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9be43b1c146ba" /><Relationship Type="http://schemas.openxmlformats.org/officeDocument/2006/relationships/image" Target="/ppt/media/image3.png" Id="Ra5093fcada1740d6" /><Relationship Type="http://schemas.openxmlformats.org/officeDocument/2006/relationships/notesSlide" Target="/ppt/notesSlides/notesSlide2.xml" Id="R54d03178b748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a699be91e4574" /><Relationship Type="http://schemas.openxmlformats.org/officeDocument/2006/relationships/image" Target="/ppt/media/image4.png" Id="R597aa5d2ee8c4c0f" /><Relationship Type="http://schemas.openxmlformats.org/officeDocument/2006/relationships/notesSlide" Target="/ppt/notesSlides/notesSlide3.xml" Id="R825680c2513a47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8CE2-A4B0-4766-A708-B4BDFE944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d9ae02d0046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DC9CFAF4-072A-4E5D-ABDE-5AD316D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拆解经验</a:t>
            </a:r>
          </a:p>
        </p:txBody>
      </p:sp>
      <p:sp>
        <p:nvSpPr>
          <p:cNvPr id="3" name="chapter-one-sentence">
            <a:extLst xmlns:a="http://schemas.openxmlformats.org/drawingml/2006/main">
              <a:ext uri="{FF2B5EF4-FFF2-40B4-BE49-F238E27FC236}">
                <a16:creationId xmlns:a16="http://schemas.microsoft.com/office/drawing/2014/main" id="{B1FA6B61-5F60-420A-9AF4-6ABF4A0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rPr>
              <a:t>把熟练做法，变成清楚的执行步骤。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B6584-588A-480E-A09E-D431315AB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8288e29cf435f"/>
          <a:srcRect xmlns:a="http://schemas.openxmlformats.org/drawingml/2006/main" l="6406" t="23611" r="6406" b="23472"/>
          <a:stretch xmlns:a="http://schemas.openxmlformats.org/drawingml/2006/main"/>
        </p:blipFill>
        <p:spPr>
          <a:xfrm xmlns:a="http://schemas.openxmlformats.org/drawingml/2006/main">
            <a:off x="609600" y="6259820"/>
            <a:ext cx="1104900" cy="377210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0F68D7-8206-46CB-9FEC-D82186B5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159990204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8000">
              <a:srgbClr val="F5FAFA"/>
            </a:gs>
            <a:gs pos="100000">
              <a:srgbClr val="EAF5F3"/>
            </a:gs>
          </a:gsLst>
          <a:lin ang="7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28C617D-C627-4CC8-8FE6-76FCC2C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把经验拆成五个可执行环节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9BD35F5-3337-47DA-91CD-26CEE6E8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以“会议纪要整理”为例，把隐含判断写成明确规则</a:t>
            </a:r>
          </a:p>
        </p:txBody>
      </p:sp>
      <p:sp>
        <p:nvSpPr>
          <p:cNvPr id="3" name="flow-node-1">
            <a:extLst xmlns:a="http://schemas.openxmlformats.org/drawingml/2006/main">
              <a:ext uri="{FF2B5EF4-FFF2-40B4-BE49-F238E27FC236}">
                <a16:creationId xmlns:a16="http://schemas.microsoft.com/office/drawing/2014/main" id="{237E994B-5FBD-4601-82A0-F053463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7"/>
          </a:solidFill>
          <a:ln xmlns:a="http://schemas.openxmlformats.org/drawingml/2006/main" w="14288">
            <a:solidFill>
              <a:srgbClr val="BBD4DA"/>
            </a:solidFill>
            <a:prstDash val="solid"/>
          </a:ln>
        </p:spPr>
      </p:sp>
      <p:sp>
        <p:nvSpPr>
          <p:cNvPr id="4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D49C1D8E-EB6B-4592-A142-9E16855D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01</a:t>
            </a:r>
          </a:p>
        </p:txBody>
      </p:sp>
      <p:sp>
        <p:nvSpPr>
          <p:cNvPr id="5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994A57F-DA8B-4229-ABCD-927EE517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明确任务</a:t>
            </a:r>
          </a:p>
        </p:txBody>
      </p:sp>
      <p:sp>
        <p:nvSpPr>
          <p:cNvPr id="6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E9732068-134B-4874-9C7C-2701D8C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981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输入原始记录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输出纪要与待办</a:t>
            </a:r>
          </a:p>
        </p:txBody>
      </p:sp>
      <p:cxnSp>
        <p:nvCxn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BC233F8-4CE9-4A1D-8F23-B5DD9103796C}"/>
              </a:ext>
            </a:extLst>
          </p:cNvPr>
          <p:cNvCxnSpPr/>
          <p:nvPr/>
        </p:nvCxnSpPr>
        <p:spPr>
          <a:xfrm xmlns:a="http://schemas.openxmlformats.org/drawingml/2006/main">
            <a:off x="2676525" y="25146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8" name="flow-node-2">
            <a:extLst xmlns:a="http://schemas.openxmlformats.org/drawingml/2006/main">
              <a:ext uri="{FF2B5EF4-FFF2-40B4-BE49-F238E27FC236}">
                <a16:creationId xmlns:a16="http://schemas.microsoft.com/office/drawing/2014/main" id="{CDE3A272-3FE8-4FC3-A2ED-4B19FA1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7"/>
          </a:solidFill>
          <a:ln xmlns:a="http://schemas.openxmlformats.org/drawingml/2006/main" w="14288">
            <a:solidFill>
              <a:srgbClr val="BBD4DA"/>
            </a:solidFill>
            <a:prstDash val="solid"/>
          </a:ln>
        </p:spPr>
      </p:sp>
      <p:sp>
        <p:nvSpPr>
          <p:cNvPr id="9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B5349E7C-7256-4AF9-8ADD-FA433D92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52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02</a:t>
            </a:r>
          </a:p>
        </p:txBody>
      </p:sp>
      <p:sp>
        <p:nvSpPr>
          <p:cNvPr id="10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0B3D87CA-1E1D-4D7B-AAAC-77C9C34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写出步骤</a:t>
            </a:r>
          </a:p>
        </p:txBody>
      </p:sp>
      <p:sp>
        <p:nvSpPr>
          <p:cNvPr id="11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607A6444-E423-4FDE-87C7-9893CF5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9925"/>
            <a:ext cx="1981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提取讨论事项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整理决定与待办</a:t>
            </a:r>
          </a:p>
        </p:txBody>
      </p:sp>
      <p:cxnSp>
        <p:nvCxnSpPr>
          <p:cNvPr id="12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558D3CF-7C5F-4461-9046-48ACEDDCF958}"/>
              </a:ext>
            </a:extLst>
          </p:cNvPr>
          <p:cNvCxnSpPr/>
          <p:nvPr/>
        </p:nvCxnSpPr>
        <p:spPr>
          <a:xfrm xmlns:a="http://schemas.openxmlformats.org/drawingml/2006/main">
            <a:off x="4886325" y="25146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13" name="flow-node-3">
            <a:extLst xmlns:a="http://schemas.openxmlformats.org/drawingml/2006/main">
              <a:ext uri="{FF2B5EF4-FFF2-40B4-BE49-F238E27FC236}">
                <a16:creationId xmlns:a16="http://schemas.microsoft.com/office/drawing/2014/main" id="{EBC89B8E-02C4-40F9-969F-7486ACF7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B"/>
          </a:solidFill>
          <a:ln xmlns:a="http://schemas.openxmlformats.org/drawingml/2006/main" w="14288">
            <a:solidFill>
              <a:srgbClr val="18A999"/>
            </a:solidFill>
            <a:prstDash val="solid"/>
          </a:ln>
        </p:spPr>
      </p:sp>
      <p:sp>
        <p:nvSpPr>
          <p:cNvPr id="14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5255CC69-03D4-429F-983A-F59DA8A1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52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03</a:t>
            </a:r>
          </a:p>
        </p:txBody>
      </p:sp>
      <p:sp>
        <p:nvSpPr>
          <p:cNvPr id="15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C81CC624-09B5-4046-850F-A039EA9A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补上判断</a:t>
            </a:r>
          </a:p>
        </p:txBody>
      </p:sp>
      <p:sp>
        <p:nvSpPr>
          <p:cNvPr id="16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CD686649-AC11-41FE-90C7-AB4D91F4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981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责任人明确吗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期限明确吗</a:t>
            </a:r>
          </a:p>
        </p:txBody>
      </p:sp>
      <p:cxnSp>
        <p:nvCxnSpPr>
          <p:cNvPr id="1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541D66DB-C814-4D8F-934D-FD4CC49D608D}"/>
              </a:ext>
            </a:extLst>
          </p:cNvPr>
          <p:cNvCxnSpPr/>
          <p:nvPr/>
        </p:nvCxnSpPr>
        <p:spPr>
          <a:xfrm xmlns:a="http://schemas.openxmlformats.org/drawingml/2006/main">
            <a:off x="7096125" y="25146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18" name="flow-node-4">
            <a:extLst xmlns:a="http://schemas.openxmlformats.org/drawingml/2006/main">
              <a:ext uri="{FF2B5EF4-FFF2-40B4-BE49-F238E27FC236}">
                <a16:creationId xmlns:a16="http://schemas.microsoft.com/office/drawing/2014/main" id="{6B92D5A3-1101-47A9-98FB-8C15254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764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7"/>
          </a:solidFill>
          <a:ln xmlns:a="http://schemas.openxmlformats.org/drawingml/2006/main" w="14288">
            <a:solidFill>
              <a:srgbClr val="BBD4DA"/>
            </a:solidFill>
            <a:prstDash val="solid"/>
          </a:ln>
        </p:spPr>
      </p:sp>
      <p:sp>
        <p:nvSpPr>
          <p:cNvPr id="19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E3DF3FF0-81D5-4BD6-9289-136301E4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04</a:t>
            </a:r>
          </a:p>
        </p:txBody>
      </p:sp>
      <p:sp>
        <p:nvSpPr>
          <p:cNvPr id="20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C240D8C-4325-4201-A315-B8B23C5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规定例外</a:t>
            </a:r>
          </a:p>
        </p:txBody>
      </p:sp>
      <p:sp>
        <p:nvSpPr>
          <p:cNvPr id="21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8B11885A-7022-4D8A-963C-449C3DA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9925"/>
            <a:ext cx="1981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缺失标“待确认”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冲突单独列出</a:t>
            </a:r>
          </a:p>
        </p:txBody>
      </p:sp>
      <p:cxnSp>
        <p:nvCxnSpPr>
          <p:cNvPr id="22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DBB91D07-421E-4314-88FA-1336010A0CDC}"/>
              </a:ext>
            </a:extLst>
          </p:cNvPr>
          <p:cNvCxnSpPr/>
          <p:nvPr/>
        </p:nvCxnSpPr>
        <p:spPr>
          <a:xfrm xmlns:a="http://schemas.openxmlformats.org/drawingml/2006/main">
            <a:off x="9305925" y="25146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A999"/>
            </a:solidFill>
            <a:prstDash val="solid"/>
            <a:tailEnd type="triangle" w="sm" len="sm"/>
          </a:ln>
        </p:spPr>
      </p:cxnSp>
      <p:sp>
        <p:nvSpPr>
          <p:cNvPr id="23" name="flow-node-5">
            <a:extLst xmlns:a="http://schemas.openxmlformats.org/drawingml/2006/main">
              <a:ext uri="{FF2B5EF4-FFF2-40B4-BE49-F238E27FC236}">
                <a16:creationId xmlns:a16="http://schemas.microsoft.com/office/drawing/2014/main" id="{4CCC3215-C313-4164-9CDD-DA213C74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7"/>
          </a:solidFill>
          <a:ln xmlns:a="http://schemas.openxmlformats.org/drawingml/2006/main" w="14288">
            <a:solidFill>
              <a:srgbClr val="BBD4DA"/>
            </a:solidFill>
            <a:prstDash val="solid"/>
          </a:ln>
        </p:spPr>
      </p:sp>
      <p:sp>
        <p:nvSpPr>
          <p:cNvPr id="24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124766D8-A2C1-41B6-B207-36C8397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05</a:t>
            </a:r>
          </a:p>
        </p:txBody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1A315E40-76AF-4DEC-BBBF-E94A2731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确定验收</a:t>
            </a:r>
          </a:p>
        </p:txBody>
      </p:sp>
      <p:sp>
        <p:nvSpPr>
          <p:cNvPr id="26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BEFCF6BE-1C79-451F-B955-E0A03960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9925"/>
            <a:ext cx="1981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事实逐条可追溯</a:t>
            </a:r>
          </a:p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行动项字段完整</a:t>
            </a:r>
          </a:p>
        </p:txBody>
      </p:sp>
      <p:sp>
        <p:nvSpPr>
          <p:cNvPr id="27" name="example-divider">
            <a:extLst xmlns:a="http://schemas.openxmlformats.org/drawingml/2006/main">
              <a:ext uri="{FF2B5EF4-FFF2-40B4-BE49-F238E27FC236}">
                <a16:creationId xmlns:a16="http://schemas.microsoft.com/office/drawing/2014/main" id="{AD9CFE87-8944-46B2-8255-4DB5400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28" name="example-heading">
            <a:extLst xmlns:a="http://schemas.openxmlformats.org/drawingml/2006/main">
              <a:ext uri="{FF2B5EF4-FFF2-40B4-BE49-F238E27FC236}">
                <a16:creationId xmlns:a16="http://schemas.microsoft.com/office/drawing/2014/main" id="{57260FC4-AB42-4AF2-9774-9429F629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5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5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把判断写具体</a:t>
            </a:r>
          </a:p>
        </p:txBody>
      </p:sp>
      <p:sp>
        <p:nvSpPr>
          <p:cNvPr id="29" name="example-rule">
            <a:extLst xmlns:a="http://schemas.openxmlformats.org/drawingml/2006/main">
              <a:ext uri="{FF2B5EF4-FFF2-40B4-BE49-F238E27FC236}">
                <a16:creationId xmlns:a16="http://schemas.microsoft.com/office/drawing/2014/main" id="{E83C5F10-DEE6-4222-A4CF-6EC2DCC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原文没有明确责任人或期限，就标记“待确认”，不自行补全。</a:t>
            </a:r>
          </a:p>
        </p:txBody>
      </p:sp>
      <p:sp>
        <p:nvSpPr>
          <p:cNvPr id="30" name="example-check">
            <a:extLst xmlns:a="http://schemas.openxmlformats.org/drawingml/2006/main">
              <a:ext uri="{FF2B5EF4-FFF2-40B4-BE49-F238E27FC236}">
                <a16:creationId xmlns:a16="http://schemas.microsoft.com/office/drawing/2014/main" id="{0D6081C6-4F1B-404D-A350-92771ED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核查方式：每条待办，都能对应一段会议原话。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18C25-94DA-450E-8C09-9EC59B07E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93fcada1740d6"/>
          <a:srcRect xmlns:a="http://schemas.openxmlformats.org/drawingml/2006/main" l="6458" t="22500" r="6510" b="22407"/>
          <a:stretch xmlns:a="http://schemas.openxmlformats.org/drawingml/2006/main"/>
        </p:blipFill>
        <p:spPr>
          <a:xfrm xmlns:a="http://schemas.openxmlformats.org/drawingml/2006/main">
            <a:off x="609600" y="6251712"/>
            <a:ext cx="1104900" cy="393426"/>
          </a:xfrm>
          <a:prstGeom xmlns:a="http://schemas.openxmlformats.org/drawingml/2006/main" prst="rect">
            <a:avLst/>
          </a:prstGeom>
        </p:spPr>
      </p:pic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3C154C-B3CF-400F-9662-146AEFB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93644996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68000">
              <a:srgbClr val="F5FAFA"/>
            </a:gs>
            <a:gs pos="100000">
              <a:srgbClr val="EAF5F3"/>
            </a:gs>
          </a:gsLst>
          <a:lin ang="7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994FCF-DC87-458A-9012-98C6F8B5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36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实操：把会议纪要经验写成流程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6C0EF76-98B4-466B-B374-8F5AEAC8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8 分钟写流程草稿，2 分钟同伴检查</a:t>
            </a:r>
          </a:p>
        </p:txBody>
      </p:sp>
      <p:sp>
        <p:nvSpPr>
          <p:cNvPr id="3" name="case-label">
            <a:extLst xmlns:a="http://schemas.openxmlformats.org/drawingml/2006/main">
              <a:ext uri="{FF2B5EF4-FFF2-40B4-BE49-F238E27FC236}">
                <a16:creationId xmlns:a16="http://schemas.microsoft.com/office/drawing/2014/main" id="{45FF33BE-25AC-4F4B-B80A-508E788F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模拟案例：会议原话</a:t>
            </a:r>
          </a:p>
        </p:txBody>
      </p:sp>
      <p:sp>
        <p:nvSpPr>
          <p:cNvPr id="4" name="case-quotation-surface">
            <a:extLst xmlns:a="http://schemas.openxmlformats.org/drawingml/2006/main">
              <a:ext uri="{FF2B5EF4-FFF2-40B4-BE49-F238E27FC236}">
                <a16:creationId xmlns:a16="http://schemas.microsoft.com/office/drawing/2014/main" id="{959A4F74-56C2-4EEB-9DDD-F753469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4953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5" name="case-source">
            <a:extLst xmlns:a="http://schemas.openxmlformats.org/drawingml/2006/main">
              <a:ext uri="{FF2B5EF4-FFF2-40B4-BE49-F238E27FC236}">
                <a16:creationId xmlns:a16="http://schemas.microsoft.com/office/drawing/2014/main" id="{D23C7F8A-C8DE-467A-A188-7BEAB9F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5529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周二项目会上，王经理说：</a:t>
            </a:r>
          </a:p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“小林周五下班前交初稿。</a:t>
            </a:r>
          </a:p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预算等财务核实后再定。</a:t>
            </a:r>
          </a:p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客户资料还缺联系人，</a:t>
            </a:r>
          </a:p>
          <a:p xmlns:a="http://schemas.openxmlformats.org/drawingml/2006/main">
            <a:pPr algn="l">
              <a:def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00" b="0">
                <a:solidFill>
                  <a:srgbClr val="123B5D"/>
                </a:solidFill>
                <a:latin typeface="Source Han Sans SC"/>
                <a:ea typeface="Source Han Sans SC"/>
                <a:cs typeface="Source Han Sans SC"/>
              </a:rPr>
              <a:t>谁补充，会后再确认。”</a:t>
            </a:r>
          </a:p>
        </p:txBody>
      </p:sp>
      <p:sp>
        <p:nvSpPr>
          <p:cNvPr id="6" name="case-goal">
            <a:extLst xmlns:a="http://schemas.openxmlformats.org/drawingml/2006/main">
              <a:ext uri="{FF2B5EF4-FFF2-40B4-BE49-F238E27FC236}">
                <a16:creationId xmlns:a16="http://schemas.microsoft.com/office/drawing/2014/main" id="{6D085E70-F224-4BC6-93DA-BBF8A52E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目标：生成会议纪要和待办清单。</a:t>
            </a:r>
          </a:p>
        </p:txBody>
      </p:sp>
      <p:sp>
        <p:nvSpPr>
          <p:cNvPr id="7" name="task-label">
            <a:extLst xmlns:a="http://schemas.openxmlformats.org/drawingml/2006/main">
              <a:ext uri="{FF2B5EF4-FFF2-40B4-BE49-F238E27FC236}">
                <a16:creationId xmlns:a16="http://schemas.microsoft.com/office/drawing/2014/main" id="{7FBCEB3C-B110-402A-BA40-C2BDEE7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4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</a:rPr>
              <a:t>学员任务</a:t>
            </a:r>
          </a:p>
        </p:txBody>
      </p:sp>
      <p:sp>
        <p:nvSpPr>
          <p:cNvPr id="8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06DA84E8-5243-4A7C-B98C-6741798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14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01  定义输入与输出</a:t>
            </a:r>
          </a:p>
        </p:txBody>
      </p:sp>
      <p:sp>
        <p:nvSpPr>
          <p:cNvPr id="9" name="task-1-detail">
            <a:extLst xmlns:a="http://schemas.openxmlformats.org/drawingml/2006/main">
              <a:ext uri="{FF2B5EF4-FFF2-40B4-BE49-F238E27FC236}">
                <a16:creationId xmlns:a16="http://schemas.microsoft.com/office/drawing/2014/main" id="{507E4EE7-AB01-42CD-958D-6E78E56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47975"/>
            <a:ext cx="531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说明需要的材料与最终交付。</a:t>
            </a:r>
          </a:p>
        </p:txBody>
      </p:sp>
      <p:sp>
        <p:nvSpPr>
          <p:cNvPr id="10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26D68B6F-F140-4F41-BE52-FB29547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314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02  列出步骤与判断</a:t>
            </a:r>
          </a:p>
        </p:txBody>
      </p:sp>
      <p:sp>
        <p:nvSpPr>
          <p:cNvPr id="11" name="task-2-detail">
            <a:extLst xmlns:a="http://schemas.openxmlformats.org/drawingml/2006/main">
              <a:ext uri="{FF2B5EF4-FFF2-40B4-BE49-F238E27FC236}">
                <a16:creationId xmlns:a16="http://schemas.microsoft.com/office/drawing/2014/main" id="{52080E87-74AF-44DF-BBE3-E949666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531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区分已定事项、待确认项和行动项。</a:t>
            </a:r>
          </a:p>
        </p:txBody>
      </p:sp>
      <p:sp>
        <p:nvSpPr>
          <p:cNvPr id="12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902E2D76-9ABF-4022-9ADA-F2FA9D4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5314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2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03  补齐例外与验收</a:t>
            </a:r>
          </a:p>
        </p:txBody>
      </p:sp>
      <p:sp>
        <p:nvSpPr>
          <p:cNvPr id="13" name="task-3-detail">
            <a:extLst xmlns:a="http://schemas.openxmlformats.org/drawingml/2006/main">
              <a:ext uri="{FF2B5EF4-FFF2-40B4-BE49-F238E27FC236}">
                <a16:creationId xmlns:a16="http://schemas.microsoft.com/office/drawing/2014/main" id="{8D876BA8-EFFB-4722-921A-45D7AE1B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531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信息缺失时标记，不自行猜补。</a:t>
            </a:r>
          </a:p>
        </p:txBody>
      </p:sp>
      <p:sp>
        <p:nvSpPr>
          <p:cNvPr id="14" name="submission-divider">
            <a:extLst xmlns:a="http://schemas.openxmlformats.org/drawingml/2006/main">
              <a:ext uri="{FF2B5EF4-FFF2-40B4-BE49-F238E27FC236}">
                <a16:creationId xmlns:a16="http://schemas.microsoft.com/office/drawing/2014/main" id="{6E1ACB7B-1D0F-4E9C-9830-F220543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5DA"/>
            </a:solidFill>
            <a:prstDash val="solid"/>
          </a:ln>
        </p:spPr>
      </p:sp>
      <p:sp>
        <p:nvSpPr>
          <p:cNvPr id="15" name="submission">
            <a:extLst xmlns:a="http://schemas.openxmlformats.org/drawingml/2006/main">
              <a:ext uri="{FF2B5EF4-FFF2-40B4-BE49-F238E27FC236}">
                <a16:creationId xmlns:a16="http://schemas.microsoft.com/office/drawing/2014/main" id="{962D1030-DF71-449C-91A1-436A0E4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21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</a:rPr>
              <a:t>提交：5 步流程＋2 条判断规则＋1 条验收标准</a:t>
            </a:r>
          </a:p>
        </p:txBody>
      </p:sp>
      <p:sp>
        <p:nvSpPr>
          <p:cNvPr id="16" name="peer-check">
            <a:extLst xmlns:a="http://schemas.openxmlformats.org/drawingml/2006/main">
              <a:ext uri="{FF2B5EF4-FFF2-40B4-BE49-F238E27FC236}">
                <a16:creationId xmlns:a16="http://schemas.microsoft.com/office/drawing/2014/main" id="{B4E5F591-5627-44FF-8762-4BBFC433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36566C"/>
                </a:solidFill>
                <a:latin typeface="Source Han Sans SC"/>
                <a:ea typeface="Source Han Sans SC"/>
                <a:cs typeface="Source Han Sans SC"/>
              </a:rPr>
              <a:t>同伴检查：预算能写成已定吗？补资料的负责人能自行指定吗？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BDC59-6859-4C51-95A2-5EEA506DA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aa5d2ee8c4c0f"/>
          <a:srcRect xmlns:a="http://schemas.openxmlformats.org/drawingml/2006/main" l="6458" t="22500" r="6510" b="22407"/>
          <a:stretch xmlns:a="http://schemas.openxmlformats.org/drawingml/2006/main"/>
        </p:blipFill>
        <p:spPr>
          <a:xfrm xmlns:a="http://schemas.openxmlformats.org/drawingml/2006/main">
            <a:off x="609600" y="6251712"/>
            <a:ext cx="1104900" cy="393426"/>
          </a:xfrm>
          <a:prstGeom xmlns:a="http://schemas.openxmlformats.org/drawingml/2006/main" prst="rect">
            <a:avLst/>
          </a:prstGeom>
        </p:spPr>
      </p:pic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225ECE-4089-4F44-9CE1-9A4BF1D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597488"/>
                </a:solidFill>
                <a:latin typeface="Source Han Sans SC"/>
                <a:ea typeface="Source Han Sans SC"/>
                <a:cs typeface="Source Han Sans SC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734675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2026-10-17T10:41:48.4070000Z</dcterms:created>
  <dcterms:modified xsi:type="dcterms:W3CDTF">2026-10-17T10:41:48.4070000Z</dcterms:modified>
</coreProperties>
</file>