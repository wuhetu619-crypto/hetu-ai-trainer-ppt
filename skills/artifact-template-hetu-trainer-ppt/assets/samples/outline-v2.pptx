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c405ca78e4ec0" /><Relationship Type="http://schemas.openxmlformats.org/officeDocument/2006/relationships/extended-properties" Target="/docProps/app.xml" Id="R68bd3e64fb6445a1" /><Relationship Type="http://schemas.openxmlformats.org/officeDocument/2006/relationships/officeDocument" Target="/ppt/presentation.xml" Id="R31c13302e9dc49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002f9894141ea"/>
  </p:sldMasterIdLst>
  <p:notesMasterIdLst>
    <p:notesMasterId xmlns:r="http://schemas.openxmlformats.org/officeDocument/2006/relationships" r:id="R157298aca3b14b7d"/>
  </p:notesMasterIdLst>
  <p:sldIdLst>
    <p:sldId xmlns:r="http://schemas.openxmlformats.org/officeDocument/2006/relationships" id="256" r:id="R4ae3907d822e4b92"/>
    <p:sldId xmlns:r="http://schemas.openxmlformats.org/officeDocument/2006/relationships" id="257" r:id="R74cb1d0edeac40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7a5e06e93d48eb" /><Relationship Type="http://schemas.openxmlformats.org/officeDocument/2006/relationships/slideMaster" Target="/ppt/slideMasters/slideMaster1.xml" Id="R724002f9894141ea" /><Relationship Type="http://schemas.openxmlformats.org/officeDocument/2006/relationships/notesMaster" Target="/ppt/notesMasters/notesMaster1.xml" Id="R157298aca3b14b7d" /><Relationship Type="http://schemas.openxmlformats.org/officeDocument/2006/relationships/presProps" Target="/ppt/presProps.xml" Id="Rda22236ebc1c4778" /><Relationship Type="http://schemas.openxmlformats.org/officeDocument/2006/relationships/tableStyles" Target="/ppt/tableStyles.xml" Id="Rfaf9f40a75ab4e1e" /><Relationship Type="http://schemas.openxmlformats.org/officeDocument/2006/relationships/slide" Target="/ppt/slides/slide1.xml" Id="R4ae3907d822e4b92" /><Relationship Type="http://schemas.openxmlformats.org/officeDocument/2006/relationships/slide" Target="/ppt/slides/slide2.xml" Id="R74cb1d0edeac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58fe444af9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5246ea9ac4fbe" /><Relationship Type="http://schemas.openxmlformats.org/officeDocument/2006/relationships/notesMaster" Target="/ppt/notesMasters/notesMaster1.xml" Id="R857eba51736c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b35ba877354345" /><Relationship Type="http://schemas.openxmlformats.org/officeDocument/2006/relationships/notesMaster" Target="/ppt/notesMasters/notesMaster1.xml" Id="R765a31fb79ad44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按编号从 01 到 10 阅读鱼骨路线，上下内容交替推进。中轴表达学习顺序，不代表固定课时。贯穿案例建议使用“会议记录整理为纪要与待办”，也可替换为学员自己的高频任务。逐节形成任务定义、流程草稿、指令、配套素材、试跑记录和最终作品。</a:t>
            </a:r>
          </a:p>
          <a:p xmlns:a="http://schemas.openxmlformats.org/drawingml/2006/main">
            <a:r>
              <a:t>课纲为讲师教学设计。Skill 的结构、触发与工具分工参考官方文档，核查日期 2026-10-17：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测试与迭代参考：</a:t>
            </a:r>
          </a:p>
          <a:p xmlns:a="http://schemas.openxmlformats.org/drawingml/2006/main">
            <a:r>
              <a:t>https://developers.openai.com/blog/eval-skills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练习：选择一项自己熟悉的重复任务，用一页说明写清输入、输出、适用条件、动作顺序、需要判断的节点、例外处理及验收方式。由同伴依照说明复述做法，指出仍需要追问的地方，补齐后形成流程草稿。示例任务可以使用会议纪要整理。背景插画由 AI 生成，用于表达经验的结构化，不代表真实软件界面。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6f03a7a8f45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218139d0545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af421f24049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79f63ff3049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1a83aef8b46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b3dabfd2847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D5C97-6127-4922-8E06-4C7F2FF43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AE8805-C885-46CF-B035-6F14A496F2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10D4F1-4D19-4B28-AC9E-62DF45B6A9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9EF63F-0479-47EE-9AC5-B802A4D74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308B6D-1620-4F33-8088-A0AEC32AE5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D35C3B-97AE-4997-BAEA-BD4A3E350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7CEACA-AF81-43D3-AE77-DF451DF2AA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BC6D6F-4057-4A92-BB22-F8717EEC3A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427AC9-28D9-46FD-8549-41D56A8FC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F0F261-1B8E-4AF5-87DE-1F43E4210A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ea6cb779cc44b0" /><Relationship Type="http://schemas.openxmlformats.org/officeDocument/2006/relationships/slideLayout" Target="/ppt/slideLayouts/slideLayout1.xml" Id="Rba71530a13e94343" /><Relationship Type="http://schemas.openxmlformats.org/officeDocument/2006/relationships/slideLayout" Target="/ppt/slideLayouts/slideLayout2.xml" Id="R4af9c4f9cd6a4571" /><Relationship Type="http://schemas.openxmlformats.org/officeDocument/2006/relationships/slideLayout" Target="/ppt/slideLayouts/slideLayout3.xml" Id="Rc51b0790eb574a26" /><Relationship Type="http://schemas.openxmlformats.org/officeDocument/2006/relationships/slideLayout" Target="/ppt/slideLayouts/slideLayout4.xml" Id="R47af522d47df45ba" /><Relationship Type="http://schemas.openxmlformats.org/officeDocument/2006/relationships/slideLayout" Target="/ppt/slideLayouts/slideLayout5.xml" Id="R7f724f0563bb4a52" /><Relationship Type="http://schemas.openxmlformats.org/officeDocument/2006/relationships/slideLayout" Target="/ppt/slideLayouts/slideLayout6.xml" Id="R5e679b0e69184b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1530a13e94343"/>
    <p:sldLayoutId xmlns:r="http://schemas.openxmlformats.org/officeDocument/2006/relationships" id="2147483650" r:id="R4af9c4f9cd6a4571"/>
    <p:sldLayoutId xmlns:r="http://schemas.openxmlformats.org/officeDocument/2006/relationships" id="2147483651" r:id="Rc51b0790eb574a26"/>
    <p:sldLayoutId xmlns:r="http://schemas.openxmlformats.org/officeDocument/2006/relationships" id="2147483652" r:id="R47af522d47df45ba"/>
    <p:sldLayoutId xmlns:r="http://schemas.openxmlformats.org/officeDocument/2006/relationships" id="2147483653" r:id="R7f724f0563bb4a52"/>
    <p:sldLayoutId xmlns:r="http://schemas.openxmlformats.org/officeDocument/2006/relationships" id="2147483654" r:id="R5e679b0e69184b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96de4205b439e" /><Relationship Type="http://schemas.openxmlformats.org/officeDocument/2006/relationships/image" Target="/ppt/media/image.png" Id="R0e1197218fa041ff" /><Relationship Type="http://schemas.openxmlformats.org/officeDocument/2006/relationships/notesSlide" Target="/ppt/notesSlides/notesSlide1.xml" Id="R39c1f6b61d16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314a4218c4820" /><Relationship Type="http://schemas.openxmlformats.org/officeDocument/2006/relationships/image" Target="/ppt/media/image2.png" Id="Rb21ca814ef2846ad" /><Relationship Type="http://schemas.openxmlformats.org/officeDocument/2006/relationships/image" Target="/ppt/media/image3.png" Id="R7a5c0e4f311e47f0" /><Relationship Type="http://schemas.openxmlformats.org/officeDocument/2006/relationships/notesSlide" Target="/ppt/notesSlides/notesSlide2.xml" Id="R209399feff644b6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8000">
              <a:srgbClr val="F2F9F9"/>
            </a:gs>
            <a:gs pos="100000">
              <a:srgbClr val="E4F3F1"/>
            </a:gs>
          </a:gsLst>
          <a:lin ang="7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outline-title">
            <a:extLst xmlns:a="http://schemas.openxmlformats.org/drawingml/2006/main">
              <a:ext uri="{FF2B5EF4-FFF2-40B4-BE49-F238E27FC236}">
                <a16:creationId xmlns:a16="http://schemas.microsoft.com/office/drawing/2014/main" id="{8069DAF9-294E-457E-A3B8-C36D2C3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把经验变成 Skill 的十节课</a:t>
            </a:r>
          </a:p>
        </p:txBody>
      </p:sp>
      <p:sp>
        <p:nvSpPr>
          <p:cNvPr id="2" name="outline-subtitle">
            <a:extLst xmlns:a="http://schemas.openxmlformats.org/drawingml/2006/main">
              <a:ext uri="{FF2B5EF4-FFF2-40B4-BE49-F238E27FC236}">
                <a16:creationId xmlns:a16="http://schemas.microsoft.com/office/drawing/2014/main" id="{C7B02508-CDFC-46AF-8BD6-E305BF3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沿着一项真实任务，完成自己的第一个 Skill</a:t>
            </a:r>
          </a:p>
        </p:txBody>
      </p:sp>
      <p:cxnSp>
        <p:nvCxnSpPr>
          <p:cNvPr id="3" name="learning-timeline">
            <a:extLst xmlns:a="http://schemas.openxmlformats.org/drawingml/2006/main">
              <a:ext uri="{FF2B5EF4-FFF2-40B4-BE49-F238E27FC236}">
                <a16:creationId xmlns:a16="http://schemas.microsoft.com/office/drawing/2014/main" id="{9ED982B9-91DB-4925-9FD3-6BA5052674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36195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3B5D"/>
            </a:solidFill>
            <a:prstDash val="solid"/>
            <a:tailEnd type="triangle" w="med" len="med"/>
          </a:ln>
        </p:spPr>
      </p:cxnSp>
      <p:cxnSp>
        <p:nvCxnSpPr>
          <p:cNvPr id="4" name="upper-bone-1">
            <a:extLst xmlns:a="http://schemas.openxmlformats.org/drawingml/2006/main">
              <a:ext uri="{FF2B5EF4-FFF2-40B4-BE49-F238E27FC236}">
                <a16:creationId xmlns:a16="http://schemas.microsoft.com/office/drawing/2014/main" id="{726FF711-21E2-460F-BB69-6F69FF658F28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1276350" y="3190875"/>
            <a:ext cx="5905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3B5D"/>
            </a:solidFill>
            <a:prstDash val="solid"/>
          </a:ln>
        </p:spPr>
      </p:cxnSp>
      <p:cxnSp>
        <p:nvCxnSpPr>
          <p:cNvPr id="5" name="lower-bone-1">
            <a:extLst xmlns:a="http://schemas.openxmlformats.org/drawingml/2006/main">
              <a:ext uri="{FF2B5EF4-FFF2-40B4-BE49-F238E27FC236}">
                <a16:creationId xmlns:a16="http://schemas.microsoft.com/office/drawing/2014/main" id="{8EB3E548-A617-4A18-850E-914902E4D3D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504950" y="3619500"/>
            <a:ext cx="5905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A999"/>
            </a:solidFill>
            <a:prstDash val="solid"/>
          </a:ln>
        </p:spPr>
      </p:cxnSp>
      <p:sp>
        <p:nvSpPr>
          <p:cNvPr id="6" name="lesson-1-number">
            <a:extLst xmlns:a="http://schemas.openxmlformats.org/drawingml/2006/main">
              <a:ext uri="{FF2B5EF4-FFF2-40B4-BE49-F238E27FC236}">
                <a16:creationId xmlns:a16="http://schemas.microsoft.com/office/drawing/2014/main" id="{CEF3717E-D83F-4962-937D-CE4A5FB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7" name="lesson-1-title">
            <a:extLst xmlns:a="http://schemas.openxmlformats.org/drawingml/2006/main">
              <a:ext uri="{FF2B5EF4-FFF2-40B4-BE49-F238E27FC236}">
                <a16:creationId xmlns:a16="http://schemas.microsoft.com/office/drawing/2014/main" id="{C2689828-CDD5-4ABB-A802-719893C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认识 Skill</a:t>
            </a:r>
          </a:p>
        </p:txBody>
      </p:sp>
      <p:sp>
        <p:nvSpPr>
          <p:cNvPr id="8" name="lesson-1-summary">
            <a:extLst xmlns:a="http://schemas.openxmlformats.org/drawingml/2006/main">
              <a:ext uri="{FF2B5EF4-FFF2-40B4-BE49-F238E27FC236}">
                <a16:creationId xmlns:a16="http://schemas.microsoft.com/office/drawing/2014/main" id="{71C85737-C0F4-4E51-8614-18B47BF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分清提示词、Skill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与工具的分工</a:t>
            </a:r>
          </a:p>
        </p:txBody>
      </p:sp>
      <p:sp>
        <p:nvSpPr>
          <p:cNvPr id="9" name="lesson-2-number">
            <a:extLst xmlns:a="http://schemas.openxmlformats.org/drawingml/2006/main">
              <a:ext uri="{FF2B5EF4-FFF2-40B4-BE49-F238E27FC236}">
                <a16:creationId xmlns:a16="http://schemas.microsoft.com/office/drawing/2014/main" id="{574FC346-145D-4EBE-AA5A-81BE0BC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10" name="lesson-2-title">
            <a:extLst xmlns:a="http://schemas.openxmlformats.org/drawingml/2006/main">
              <a:ext uri="{FF2B5EF4-FFF2-40B4-BE49-F238E27FC236}">
                <a16:creationId xmlns:a16="http://schemas.microsoft.com/office/drawing/2014/main" id="{1D46147D-EEF2-49FF-B9FA-129D9D8D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选择任务</a:t>
            </a:r>
          </a:p>
        </p:txBody>
      </p:sp>
      <p:sp>
        <p:nvSpPr>
          <p:cNvPr id="11" name="lesson-2-summary">
            <a:extLst xmlns:a="http://schemas.openxmlformats.org/drawingml/2006/main">
              <a:ext uri="{FF2B5EF4-FFF2-40B4-BE49-F238E27FC236}">
                <a16:creationId xmlns:a16="http://schemas.microsoft.com/office/drawing/2014/main" id="{4BC406E7-CEB5-4681-9878-8F7D0535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找到高频工作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明确输入与成果</a:t>
            </a:r>
          </a:p>
        </p:txBody>
      </p:sp>
      <p:cxnSp>
        <p:nvCxnSpPr>
          <p:cNvPr id="12" name="upper-bone-2">
            <a:extLst xmlns:a="http://schemas.openxmlformats.org/drawingml/2006/main">
              <a:ext uri="{FF2B5EF4-FFF2-40B4-BE49-F238E27FC236}">
                <a16:creationId xmlns:a16="http://schemas.microsoft.com/office/drawing/2014/main" id="{88BE894F-B259-44BD-8EE5-AB228EFAA44E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3409950" y="3190875"/>
            <a:ext cx="5905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A999"/>
            </a:solidFill>
            <a:prstDash val="solid"/>
          </a:ln>
        </p:spPr>
      </p:cxnSp>
      <p:cxnSp>
        <p:nvCxnSpPr>
          <p:cNvPr id="13" name="lower-bone-2">
            <a:extLst xmlns:a="http://schemas.openxmlformats.org/drawingml/2006/main">
              <a:ext uri="{FF2B5EF4-FFF2-40B4-BE49-F238E27FC236}">
                <a16:creationId xmlns:a16="http://schemas.microsoft.com/office/drawing/2014/main" id="{60A7CDF8-D90A-47E9-972B-BF5059749CF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638550" y="3619500"/>
            <a:ext cx="5905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A999"/>
            </a:solidFill>
            <a:prstDash val="solid"/>
          </a:ln>
        </p:spPr>
      </p:cxnSp>
      <p:sp>
        <p:nvSpPr>
          <p:cNvPr id="14" name="lesson-3-number">
            <a:extLst xmlns:a="http://schemas.openxmlformats.org/drawingml/2006/main">
              <a:ext uri="{FF2B5EF4-FFF2-40B4-BE49-F238E27FC236}">
                <a16:creationId xmlns:a16="http://schemas.microsoft.com/office/drawing/2014/main" id="{287106FE-FD62-4287-B8F0-96F06E99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15" name="lesson-3-title">
            <a:extLst xmlns:a="http://schemas.openxmlformats.org/drawingml/2006/main">
              <a:ext uri="{FF2B5EF4-FFF2-40B4-BE49-F238E27FC236}">
                <a16:creationId xmlns:a16="http://schemas.microsoft.com/office/drawing/2014/main" id="{FDDD908D-59C7-48AC-8443-0DF5686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28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拆解经验</a:t>
            </a:r>
          </a:p>
        </p:txBody>
      </p:sp>
      <p:sp>
        <p:nvSpPr>
          <p:cNvPr id="16" name="lesson-3-summary">
            <a:extLst xmlns:a="http://schemas.openxmlformats.org/drawingml/2006/main">
              <a:ext uri="{FF2B5EF4-FFF2-40B4-BE49-F238E27FC236}">
                <a16:creationId xmlns:a16="http://schemas.microsoft.com/office/drawing/2014/main" id="{0755D613-DB2F-4B91-9946-864A97D6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提炼操作步骤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保留判断依据</a:t>
            </a:r>
          </a:p>
        </p:txBody>
      </p:sp>
      <p:sp>
        <p:nvSpPr>
          <p:cNvPr id="17" name="lesson-4-number">
            <a:extLst xmlns:a="http://schemas.openxmlformats.org/drawingml/2006/main">
              <a:ext uri="{FF2B5EF4-FFF2-40B4-BE49-F238E27FC236}">
                <a16:creationId xmlns:a16="http://schemas.microsoft.com/office/drawing/2014/main" id="{788A2FF0-E0EB-4CDE-8E4F-C143725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52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</a:p>
        </p:txBody>
      </p:sp>
      <p:sp>
        <p:nvSpPr>
          <p:cNvPr id="18" name="lesson-4-title">
            <a:extLst xmlns:a="http://schemas.openxmlformats.org/drawingml/2006/main">
              <a:ext uri="{FF2B5EF4-FFF2-40B4-BE49-F238E27FC236}">
                <a16:creationId xmlns:a16="http://schemas.microsoft.com/office/drawing/2014/main" id="{6DF2C8AE-0328-463A-8430-C737620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编写指令</a:t>
            </a:r>
          </a:p>
        </p:txBody>
      </p:sp>
      <p:sp>
        <p:nvSpPr>
          <p:cNvPr id="19" name="lesson-4-summary">
            <a:extLst xmlns:a="http://schemas.openxmlformats.org/drawingml/2006/main">
              <a:ext uri="{FF2B5EF4-FFF2-40B4-BE49-F238E27FC236}">
                <a16:creationId xmlns:a16="http://schemas.microsoft.com/office/drawing/2014/main" id="{CA84D10C-C5E6-4CF1-A6F0-A7D3D60F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625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写清适用条件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步骤与输出要求</a:t>
            </a:r>
          </a:p>
        </p:txBody>
      </p:sp>
      <p:cxnSp>
        <p:nvCxnSpPr>
          <p:cNvPr id="20" name="upper-bone-3">
            <a:extLst xmlns:a="http://schemas.openxmlformats.org/drawingml/2006/main">
              <a:ext uri="{FF2B5EF4-FFF2-40B4-BE49-F238E27FC236}">
                <a16:creationId xmlns:a16="http://schemas.microsoft.com/office/drawing/2014/main" id="{ED56E108-D469-4BD9-AD10-5E4D4288FEB7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5543550" y="3190875"/>
            <a:ext cx="5905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3B5D"/>
            </a:solidFill>
            <a:prstDash val="solid"/>
          </a:ln>
        </p:spPr>
      </p:cxnSp>
      <p:cxnSp>
        <p:nvCxnSpPr>
          <p:cNvPr id="21" name="lower-bone-3">
            <a:extLst xmlns:a="http://schemas.openxmlformats.org/drawingml/2006/main">
              <a:ext uri="{FF2B5EF4-FFF2-40B4-BE49-F238E27FC236}">
                <a16:creationId xmlns:a16="http://schemas.microsoft.com/office/drawing/2014/main" id="{7B74C176-384B-4E76-96C1-B7CD6D9ED86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772150" y="3619500"/>
            <a:ext cx="5905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A999"/>
            </a:solidFill>
            <a:prstDash val="solid"/>
          </a:ln>
        </p:spPr>
      </p:cxnSp>
      <p:sp>
        <p:nvSpPr>
          <p:cNvPr id="22" name="lesson-5-number">
            <a:extLst xmlns:a="http://schemas.openxmlformats.org/drawingml/2006/main">
              <a:ext uri="{FF2B5EF4-FFF2-40B4-BE49-F238E27FC236}">
                <a16:creationId xmlns:a16="http://schemas.microsoft.com/office/drawing/2014/main" id="{6E7B0503-B815-4FCB-81C7-98A739FD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</a:p>
        </p:txBody>
      </p:sp>
      <p:sp>
        <p:nvSpPr>
          <p:cNvPr id="23" name="lesson-5-title">
            <a:extLst xmlns:a="http://schemas.openxmlformats.org/drawingml/2006/main">
              <a:ext uri="{FF2B5EF4-FFF2-40B4-BE49-F238E27FC236}">
                <a16:creationId xmlns:a16="http://schemas.microsoft.com/office/drawing/2014/main" id="{331565F1-38D7-4787-B138-E85570E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28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组织素材</a:t>
            </a:r>
          </a:p>
        </p:txBody>
      </p:sp>
      <p:sp>
        <p:nvSpPr>
          <p:cNvPr id="24" name="lesson-5-summary">
            <a:extLst xmlns:a="http://schemas.openxmlformats.org/drawingml/2006/main">
              <a:ext uri="{FF2B5EF4-FFF2-40B4-BE49-F238E27FC236}">
                <a16:creationId xmlns:a16="http://schemas.microsoft.com/office/drawing/2014/main" id="{E95B0501-C509-41C7-8C95-0B01D27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24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配置案例、模板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与参考资料</a:t>
            </a:r>
          </a:p>
        </p:txBody>
      </p:sp>
      <p:sp>
        <p:nvSpPr>
          <p:cNvPr id="25" name="lesson-6-number">
            <a:extLst xmlns:a="http://schemas.openxmlformats.org/drawingml/2006/main">
              <a:ext uri="{FF2B5EF4-FFF2-40B4-BE49-F238E27FC236}">
                <a16:creationId xmlns:a16="http://schemas.microsoft.com/office/drawing/2014/main" id="{5D713528-0438-4D26-878C-1EFEE028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52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</a:p>
        </p:txBody>
      </p:sp>
      <p:sp>
        <p:nvSpPr>
          <p:cNvPr id="26" name="lesson-6-title">
            <a:extLst xmlns:a="http://schemas.openxmlformats.org/drawingml/2006/main">
              <a:ext uri="{FF2B5EF4-FFF2-40B4-BE49-F238E27FC236}">
                <a16:creationId xmlns:a16="http://schemas.microsoft.com/office/drawing/2014/main" id="{3A43D5F5-9454-4F25-8B05-4457053E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67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安装调用</a:t>
            </a:r>
          </a:p>
        </p:txBody>
      </p:sp>
      <p:sp>
        <p:nvSpPr>
          <p:cNvPr id="27" name="lesson-6-summary">
            <a:extLst xmlns:a="http://schemas.openxmlformats.org/drawingml/2006/main">
              <a:ext uri="{FF2B5EF4-FFF2-40B4-BE49-F238E27FC236}">
                <a16:creationId xmlns:a16="http://schemas.microsoft.com/office/drawing/2014/main" id="{B18CC455-A4BC-475C-93FE-A972F814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625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完成安装与发现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练习明确调用</a:t>
            </a:r>
          </a:p>
        </p:txBody>
      </p:sp>
      <p:cxnSp>
        <p:nvCxnSpPr>
          <p:cNvPr id="28" name="upper-bone-4">
            <a:extLst xmlns:a="http://schemas.openxmlformats.org/drawingml/2006/main">
              <a:ext uri="{FF2B5EF4-FFF2-40B4-BE49-F238E27FC236}">
                <a16:creationId xmlns:a16="http://schemas.microsoft.com/office/drawing/2014/main" id="{D99B8A2B-75C2-478B-A547-9EA61A44188C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7677150" y="3190875"/>
            <a:ext cx="5905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3B5D"/>
            </a:solidFill>
            <a:prstDash val="solid"/>
          </a:ln>
        </p:spPr>
      </p:cxnSp>
      <p:cxnSp>
        <p:nvCxnSpPr>
          <p:cNvPr id="29" name="lower-bone-4">
            <a:extLst xmlns:a="http://schemas.openxmlformats.org/drawingml/2006/main">
              <a:ext uri="{FF2B5EF4-FFF2-40B4-BE49-F238E27FC236}">
                <a16:creationId xmlns:a16="http://schemas.microsoft.com/office/drawing/2014/main" id="{D4BC4234-9A86-40FF-A510-9A05E24DF6D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05750" y="3619500"/>
            <a:ext cx="5905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A999"/>
            </a:solidFill>
            <a:prstDash val="solid"/>
          </a:ln>
        </p:spPr>
      </p:cxnSp>
      <p:sp>
        <p:nvSpPr>
          <p:cNvPr id="30" name="lesson-7-number">
            <a:extLst xmlns:a="http://schemas.openxmlformats.org/drawingml/2006/main">
              <a:ext uri="{FF2B5EF4-FFF2-40B4-BE49-F238E27FC236}">
                <a16:creationId xmlns:a16="http://schemas.microsoft.com/office/drawing/2014/main" id="{97E08984-74E1-41F0-B749-F3926056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07</a:t>
            </a:r>
          </a:p>
        </p:txBody>
      </p:sp>
      <p:sp>
        <p:nvSpPr>
          <p:cNvPr id="31" name="lesson-7-title">
            <a:extLst xmlns:a="http://schemas.openxmlformats.org/drawingml/2006/main">
              <a:ext uri="{FF2B5EF4-FFF2-40B4-BE49-F238E27FC236}">
                <a16:creationId xmlns:a16="http://schemas.microsoft.com/office/drawing/2014/main" id="{6E3F0327-33A1-4348-80CB-5E551E28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测试纠错</a:t>
            </a:r>
          </a:p>
        </p:txBody>
      </p:sp>
      <p:sp>
        <p:nvSpPr>
          <p:cNvPr id="32" name="lesson-7-summary">
            <a:extLst xmlns:a="http://schemas.openxmlformats.org/drawingml/2006/main">
              <a:ext uri="{FF2B5EF4-FFF2-40B4-BE49-F238E27FC236}">
                <a16:creationId xmlns:a16="http://schemas.microsoft.com/office/drawing/2014/main" id="{EFC8A11D-2D84-4EC2-99E5-711E35B4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用不同样例试跑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定位问题并改进</a:t>
            </a:r>
          </a:p>
        </p:txBody>
      </p:sp>
      <p:sp>
        <p:nvSpPr>
          <p:cNvPr id="33" name="lesson-8-number">
            <a:extLst xmlns:a="http://schemas.openxmlformats.org/drawingml/2006/main">
              <a:ext uri="{FF2B5EF4-FFF2-40B4-BE49-F238E27FC236}">
                <a16:creationId xmlns:a16="http://schemas.microsoft.com/office/drawing/2014/main" id="{1B49A994-B01C-4954-97AA-CCB3E05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52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08</a:t>
            </a:r>
          </a:p>
        </p:txBody>
      </p:sp>
      <p:sp>
        <p:nvSpPr>
          <p:cNvPr id="34" name="lesson-8-title">
            <a:extLst xmlns:a="http://schemas.openxmlformats.org/drawingml/2006/main">
              <a:ext uri="{FF2B5EF4-FFF2-40B4-BE49-F238E27FC236}">
                <a16:creationId xmlns:a16="http://schemas.microsoft.com/office/drawing/2014/main" id="{2D964C77-21AF-46EE-9FBA-911E9C97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67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协同工具</a:t>
            </a:r>
          </a:p>
        </p:txBody>
      </p:sp>
      <p:sp>
        <p:nvSpPr>
          <p:cNvPr id="35" name="lesson-8-summary">
            <a:extLst xmlns:a="http://schemas.openxmlformats.org/drawingml/2006/main">
              <a:ext uri="{FF2B5EF4-FFF2-40B4-BE49-F238E27FC236}">
                <a16:creationId xmlns:a16="http://schemas.microsoft.com/office/drawing/2014/main" id="{780952A6-8409-4AB8-9CB6-25669518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625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按任务连接工具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明确权限与确认</a:t>
            </a:r>
          </a:p>
        </p:txBody>
      </p:sp>
      <p:cxnSp>
        <p:nvCxnSpPr>
          <p:cNvPr id="36" name="upper-bone-5">
            <a:extLst xmlns:a="http://schemas.openxmlformats.org/drawingml/2006/main">
              <a:ext uri="{FF2B5EF4-FFF2-40B4-BE49-F238E27FC236}">
                <a16:creationId xmlns:a16="http://schemas.microsoft.com/office/drawing/2014/main" id="{72839DFB-AA9F-43FB-82B8-09B90F06324A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9810750" y="3190875"/>
            <a:ext cx="5905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23B5D"/>
            </a:solidFill>
            <a:prstDash val="solid"/>
          </a:ln>
        </p:spPr>
      </p:cxnSp>
      <p:cxnSp>
        <p:nvCxnSpPr>
          <p:cNvPr id="37" name="lower-bone-5">
            <a:extLst xmlns:a="http://schemas.openxmlformats.org/drawingml/2006/main">
              <a:ext uri="{FF2B5EF4-FFF2-40B4-BE49-F238E27FC236}">
                <a16:creationId xmlns:a16="http://schemas.microsoft.com/office/drawing/2014/main" id="{AA6AC1DD-4DDB-42D8-BEEA-6147F1E3439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039350" y="3619500"/>
            <a:ext cx="5905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A999"/>
            </a:solidFill>
            <a:prstDash val="solid"/>
          </a:ln>
        </p:spPr>
      </p:cxnSp>
      <p:sp>
        <p:nvSpPr>
          <p:cNvPr id="38" name="lesson-9-number">
            <a:extLst xmlns:a="http://schemas.openxmlformats.org/drawingml/2006/main">
              <a:ext uri="{FF2B5EF4-FFF2-40B4-BE49-F238E27FC236}">
                <a16:creationId xmlns:a16="http://schemas.microsoft.com/office/drawing/2014/main" id="{F015F002-57E6-4BF6-AE41-D1DF278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09</a:t>
            </a:r>
          </a:p>
        </p:txBody>
      </p:sp>
      <p:sp>
        <p:nvSpPr>
          <p:cNvPr id="39" name="lesson-9-title">
            <a:extLst xmlns:a="http://schemas.openxmlformats.org/drawingml/2006/main">
              <a:ext uri="{FF2B5EF4-FFF2-40B4-BE49-F238E27FC236}">
                <a16:creationId xmlns:a16="http://schemas.microsoft.com/office/drawing/2014/main" id="{2A9AABAC-A056-430E-B694-633A4050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28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完成作品</a:t>
            </a:r>
          </a:p>
        </p:txBody>
      </p:sp>
      <p:sp>
        <p:nvSpPr>
          <p:cNvPr id="40" name="lesson-9-summary">
            <a:extLst xmlns:a="http://schemas.openxmlformats.org/drawingml/2006/main">
              <a:ext uri="{FF2B5EF4-FFF2-40B4-BE49-F238E27FC236}">
                <a16:creationId xmlns:a16="http://schemas.microsoft.com/office/drawing/2014/main" id="{95A32138-FD32-4FC0-8B18-0D3859E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24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做成自己的 Skill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用真实任务验收</a:t>
            </a:r>
          </a:p>
        </p:txBody>
      </p:sp>
      <p:sp>
        <p:nvSpPr>
          <p:cNvPr id="41" name="lesson-10-number">
            <a:extLst xmlns:a="http://schemas.openxmlformats.org/drawingml/2006/main">
              <a:ext uri="{FF2B5EF4-FFF2-40B4-BE49-F238E27FC236}">
                <a16:creationId xmlns:a16="http://schemas.microsoft.com/office/drawing/2014/main" id="{3FFCD397-DFA0-42AF-9E21-875ADB4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52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10</a:t>
            </a:r>
          </a:p>
        </p:txBody>
      </p:sp>
      <p:sp>
        <p:nvSpPr>
          <p:cNvPr id="42" name="lesson-10-title">
            <a:extLst xmlns:a="http://schemas.openxmlformats.org/drawingml/2006/main">
              <a:ext uri="{FF2B5EF4-FFF2-40B4-BE49-F238E27FC236}">
                <a16:creationId xmlns:a16="http://schemas.microsoft.com/office/drawing/2014/main" id="{D51C1064-A378-4D7D-A7CF-7A90071D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67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管理复用</a:t>
            </a:r>
          </a:p>
        </p:txBody>
      </p:sp>
      <p:sp>
        <p:nvSpPr>
          <p:cNvPr id="43" name="lesson-10-summary">
            <a:extLst xmlns:a="http://schemas.openxmlformats.org/drawingml/2006/main">
              <a:ext uri="{FF2B5EF4-FFF2-40B4-BE49-F238E27FC236}">
                <a16:creationId xmlns:a16="http://schemas.microsoft.com/office/drawing/2014/main" id="{3213DCA9-D1EB-4A66-B3AA-8390CB77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625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整理分类与版本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沉淀使用记录</a:t>
            </a:r>
          </a:p>
        </p:txBody>
      </p:sp>
      <p:sp>
        <p:nvSpPr>
          <p:cNvPr id="44" name="timeline-start">
            <a:extLst xmlns:a="http://schemas.openxmlformats.org/drawingml/2006/main">
              <a:ext uri="{FF2B5EF4-FFF2-40B4-BE49-F238E27FC236}">
                <a16:creationId xmlns:a16="http://schemas.microsoft.com/office/drawing/2014/main" id="{46DE5325-86B0-441D-A85B-4E8ADF1A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3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学习进程</a:t>
            </a:r>
          </a:p>
        </p:txBody>
      </p:sp>
      <p:sp>
        <p:nvSpPr>
          <p:cNvPr id="45" name="course-outcome">
            <a:extLst xmlns:a="http://schemas.openxmlformats.org/drawingml/2006/main">
              <a:ext uri="{FF2B5EF4-FFF2-40B4-BE49-F238E27FC236}">
                <a16:creationId xmlns:a16="http://schemas.microsoft.com/office/drawing/2014/main" id="{855BA5AE-3E33-40D9-AF66-1E05098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388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9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全课成果：一个经过试跑、能够复用的个人 Skill</a:t>
            </a:r>
          </a:p>
        </p:txBody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B889C5-E132-4DEB-88FA-84F3CB1A9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197218fa041ff"/>
          <a:srcRect xmlns:a="http://schemas.openxmlformats.org/drawingml/2006/main" l="6458" t="22500" r="6510" b="22407"/>
          <a:stretch xmlns:a="http://schemas.openxmlformats.org/drawingml/2006/main"/>
        </p:blipFill>
        <p:spPr>
          <a:xfrm xmlns:a="http://schemas.openxmlformats.org/drawingml/2006/main">
            <a:off x="609600" y="6251712"/>
            <a:ext cx="1104900" cy="393426"/>
          </a:xfrm>
          <a:prstGeom xmlns:a="http://schemas.openxmlformats.org/drawingml/2006/main" prst="rect">
            <a:avLst/>
          </a:prstGeom>
        </p:spPr>
      </p:pic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53F0CB-405D-4906-89C2-E261957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600867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42F7C-5479-4C1C-A262-58F3373725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ca814ef2846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484CF1DE-6E7B-4FD1-911A-A2719AAB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8CE5D7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8CE5D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>
                <a:solidFill>
                  <a:srgbClr val="8CE5D7"/>
                </a:solidFill>
                <a:latin typeface="Source Han Sans SC"/>
                <a:ea typeface="Source Han Sans SC"/>
                <a:cs typeface="Source Han Sans SC"/>
              </a:rPr>
              <a:t>第 03 节 / 共 10 节</a:t>
            </a:r>
          </a:p>
        </p:txBody>
      </p:sp>
      <p:sp>
        <p:nvSpPr>
          <p:cNvPr id="3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77D2BA48-8FEB-4B58-B101-6DD3D7DE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09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拆解经验</a:t>
            </a:r>
          </a:p>
        </p:txBody>
      </p:sp>
      <p:sp>
        <p:nvSpPr>
          <p:cNvPr id="4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0656938F-2DB8-4B80-BB35-E1EA4F0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52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rPr>
              <a:t>把熟练做法整理成步骤，</a:t>
            </a:r>
          </a:p>
          <a:p xmlns:a="http://schemas.openxmlformats.org/drawingml/2006/main">
            <a: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rPr>
              <a:t>保留关键判断与例外。</a:t>
            </a:r>
          </a:p>
        </p:txBody>
      </p:sp>
      <p:sp>
        <p:nvSpPr>
          <p:cNvPr id="5" name="chapter-outcome">
            <a:extLst xmlns:a="http://schemas.openxmlformats.org/drawingml/2006/main">
              <a:ext uri="{FF2B5EF4-FFF2-40B4-BE49-F238E27FC236}">
                <a16:creationId xmlns:a16="http://schemas.microsoft.com/office/drawing/2014/main" id="{4A3FEBEF-C64B-4CB1-A293-75B63B1E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810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100" b="1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</a:rPr>
              <a:t>本节产出：任务流程草稿</a:t>
            </a:r>
          </a:p>
        </p:txBody>
      </p:sp>
      <p:sp>
        <p:nvSpPr>
          <p:cNvPr id="6" name="chapter-topic-1">
            <a:extLst xmlns:a="http://schemas.openxmlformats.org/drawingml/2006/main">
              <a:ext uri="{FF2B5EF4-FFF2-40B4-BE49-F238E27FC236}">
                <a16:creationId xmlns:a16="http://schemas.microsoft.com/office/drawing/2014/main" id="{47CE659E-1683-4F38-A0B0-FB63CB14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3467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01  任务边界</a:t>
            </a:r>
          </a:p>
        </p:txBody>
      </p:sp>
      <p:sp>
        <p:nvSpPr>
          <p:cNvPr id="7" name="chapter-topic-detail-1">
            <a:extLst xmlns:a="http://schemas.openxmlformats.org/drawingml/2006/main">
              <a:ext uri="{FF2B5EF4-FFF2-40B4-BE49-F238E27FC236}">
                <a16:creationId xmlns:a16="http://schemas.microsoft.com/office/drawing/2014/main" id="{A1CEF801-6402-42DD-95DA-928A970B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rPr>
              <a:t>输入、输出与适用条件</a:t>
            </a:r>
          </a:p>
        </p:txBody>
      </p:sp>
      <p:sp>
        <p:nvSpPr>
          <p:cNvPr id="8" name="chapter-topic-2">
            <a:extLst xmlns:a="http://schemas.openxmlformats.org/drawingml/2006/main">
              <a:ext uri="{FF2B5EF4-FFF2-40B4-BE49-F238E27FC236}">
                <a16:creationId xmlns:a16="http://schemas.microsoft.com/office/drawing/2014/main" id="{C8FE93D1-A0B5-46F4-8D4A-A0AC561D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86350"/>
            <a:ext cx="3467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02  步骤与判断</a:t>
            </a:r>
          </a:p>
        </p:txBody>
      </p:sp>
      <p:sp>
        <p:nvSpPr>
          <p:cNvPr id="9" name="chapter-topic-detail-2">
            <a:extLst xmlns:a="http://schemas.openxmlformats.org/drawingml/2006/main">
              <a:ext uri="{FF2B5EF4-FFF2-40B4-BE49-F238E27FC236}">
                <a16:creationId xmlns:a16="http://schemas.microsoft.com/office/drawing/2014/main" id="{16588111-B994-40B5-9EDF-5FD7F83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8165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rPr>
              <a:t>动作顺序、分支与例外</a:t>
            </a:r>
          </a:p>
        </p:txBody>
      </p:sp>
      <p:sp>
        <p:nvSpPr>
          <p:cNvPr id="10" name="chapter-topic-3">
            <a:extLst xmlns:a="http://schemas.openxmlformats.org/drawingml/2006/main">
              <a:ext uri="{FF2B5EF4-FFF2-40B4-BE49-F238E27FC236}">
                <a16:creationId xmlns:a16="http://schemas.microsoft.com/office/drawing/2014/main" id="{A313AA77-87B3-4608-BA34-8D9B21B4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86350"/>
            <a:ext cx="3467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03  验收标准</a:t>
            </a:r>
          </a:p>
        </p:txBody>
      </p:sp>
      <p:sp>
        <p:nvSpPr>
          <p:cNvPr id="11" name="chapter-topic-detail-3">
            <a:extLst xmlns:a="http://schemas.openxmlformats.org/drawingml/2006/main">
              <a:ext uri="{FF2B5EF4-FFF2-40B4-BE49-F238E27FC236}">
                <a16:creationId xmlns:a16="http://schemas.microsoft.com/office/drawing/2014/main" id="{7709F775-00FE-45A5-8E01-817F2685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8165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D8EAF0"/>
                </a:solidFill>
                <a:latin typeface="Source Han Sans SC"/>
                <a:ea typeface="Source Han Sans SC"/>
                <a:cs typeface="Source Han Sans SC"/>
              </a:rPr>
              <a:t>核查事实、格式与完整性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F63BB-BC01-4583-9772-192DCF136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c0e4f311e47f0"/>
          <a:srcRect xmlns:a="http://schemas.openxmlformats.org/drawingml/2006/main" l="6406" t="23611" r="6406" b="23472"/>
          <a:stretch xmlns:a="http://schemas.openxmlformats.org/drawingml/2006/main"/>
        </p:blipFill>
        <p:spPr>
          <a:xfrm xmlns:a="http://schemas.openxmlformats.org/drawingml/2006/main">
            <a:off x="609600" y="6259820"/>
            <a:ext cx="1104900" cy="377210"/>
          </a:xfrm>
          <a:prstGeom xmlns:a="http://schemas.openxmlformats.org/drawingml/2006/main" prst="rect">
            <a:avLst/>
          </a:prstGeom>
        </p:spPr>
      </p:pic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366268-9DE5-4964-930E-B8E623DF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450640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2026-10-17T10:35:44.6920000Z</dcterms:created>
  <dcterms:modified xsi:type="dcterms:W3CDTF">2026-10-17T10:35:44.6920000Z</dcterms:modified>
</coreProperties>
</file>