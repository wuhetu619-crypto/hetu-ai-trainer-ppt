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3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44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  <p:sldMasterId id="2147483655" r:id="rId3"/>
  </p:sldMasterIdLst>
  <p:sldIdLst>
    <p:sldId id="299" r:id="rId48"/>
    <p:sldId id="302" r:id="rId51"/>
    <p:sldId id="20002" r:id="rId52"/>
    <p:sldId id="20003" r:id="rId53"/>
    <p:sldId id="20004" r:id="rId54"/>
    <p:sldId id="20005" r:id="rId55"/>
    <p:sldId id="303" r:id="rId56"/>
    <p:sldId id="20006" r:id="rId57"/>
    <p:sldId id="304" r:id="rId58"/>
    <p:sldId id="20007" r:id="rId59"/>
    <p:sldId id="305" r:id="rId6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?>
<Relationships xmlns="http://schemas.openxmlformats.org/package/2006/relationships"><Relationship Id="rId60" Type="http://schemas.openxmlformats.org/officeDocument/2006/relationships/slide" Target="slides/slide56.xml" /><Relationship Id="rId59" Type="http://schemas.openxmlformats.org/officeDocument/2006/relationships/slide" Target="slides/slide55.xml" /><Relationship Id="rId58" Type="http://schemas.openxmlformats.org/officeDocument/2006/relationships/slide" Target="slides/slide54.xml" /><Relationship Id="rId57" Type="http://schemas.openxmlformats.org/officeDocument/2006/relationships/slide" Target="slides/slide53.xml" /><Relationship Id="rId56" Type="http://schemas.openxmlformats.org/officeDocument/2006/relationships/slide" Target="slides/slide52.xml" /><Relationship Id="rId55" Type="http://schemas.openxmlformats.org/officeDocument/2006/relationships/slide" Target="slides/slide51.xml" /><Relationship Id="rId54" Type="http://schemas.openxmlformats.org/officeDocument/2006/relationships/slide" Target="slides/slide50.xml" /><Relationship Id="rId53" Type="http://schemas.openxmlformats.org/officeDocument/2006/relationships/slide" Target="slides/slide49.xml" /><Relationship Id="rId52" Type="http://schemas.openxmlformats.org/officeDocument/2006/relationships/slide" Target="slides/slide48.xml" /><Relationship Id="rId51" Type="http://schemas.openxmlformats.org/officeDocument/2006/relationships/slide" Target="slides/slide47.xml" /><Relationship Id="rId48" Type="http://schemas.openxmlformats.org/officeDocument/2006/relationships/slide" Target="slides/slide44.xml" /><Relationship Id="rId3" Type="http://schemas.openxmlformats.org/officeDocument/2006/relationships/slideMaster" Target="slideMasters/slideMaster2.xml" /><Relationship Id="rId2" Type="http://schemas.openxmlformats.org/officeDocument/2006/relationships/theme" Target="theme/theme1.xml" /><Relationship Id="rId1" Type="http://schemas.openxmlformats.org/officeDocument/2006/relationships/slideMaster" Target="slideMasters/slideMaster1.xml" /></Relationships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43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44.xml" /></Relationships>
</file>

<file path=ppt/notesSlides/_rels/notesSlide46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47.xml" /></Relationships>
</file>

<file path=ppt/notesSlides/_rels/notesSlide47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48.xml" /></Relationships>
</file>

<file path=ppt/notesSlides/_rels/notesSlide48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49.xml" /></Relationships>
</file>

<file path=ppt/notesSlides/_rels/notesSlide49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50.xml" /></Relationships>
</file>

<file path=ppt/notesSlides/_rels/notesSlide50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51.xml" /></Relationships>
</file>

<file path=ppt/notesSlides/_rels/notesSlide5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52.xml" /></Relationships>
</file>

<file path=ppt/notesSlides/_rels/notesSlide52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53.xml" /></Relationships>
</file>

<file path=ppt/notesSlides/_rels/notesSlide53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54.xml" /></Relationships>
</file>

<file path=ppt/notesSlides/_rels/notesSlide54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55.xml" /></Relationships>
</file>

<file path=ppt/notesSlides/_rels/notesSlide55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56.xml" /></Relationship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严格参考原第44页的自由曲线路线与五步次序，复用原曲线几何；图标为本次AI生成，文字、曲线均可编辑。概率为课堂虚构示意，不能作为模型实际输出。</a:t>
            </a:r>
          </a:p>
          <a:p>
            <a:r>
              <a:t>核查日期：2026-10-18。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下载大小依据对应标签与官方仓库。Qwen3.5是轻量分支，Qwen3.8-27B是较新进阶选择；不把所有模型都标成同一代。配置建议为工程预算，不是厂商保证。增加图片、上下文或并发后须重新测量。</a:t>
            </a:r>
          </a:p>
          <a:p>
            <a:r>
              <a:t>核查日期：2026-10-18。</a:t>
            </a:r>
          </a:p>
          <a:p>
            <a:r>
              <a:t>来源：https://ollama.com/library/qwen3.5:4b-q4_K_M</a:t>
            </a:r>
          </a:p>
          <a:p>
            <a:r>
              <a:t>来源：https://ollama.com/library/qwen3.5:9b-q4_K_M</a:t>
            </a:r>
          </a:p>
          <a:p>
            <a:r>
              <a:t>来源：https://ollama.com/library/qwen3.8:27b-q4_K_M</a:t>
            </a:r>
          </a:p>
          <a:p>
            <a:r>
              <a:t>来源：https://ollama.com/library/glm-4.7-flash:q4_K_M</a:t>
            </a:r>
          </a:p>
          <a:p>
            <a:r>
              <a:t>来源：https://huggingface.co/zai-org/GLM-4.7-Flash</a:t>
            </a:r>
          </a:p>
          <a:p>
            <a:r>
              <a:t>来源：https://huggingface.co/openbmb/MiniCPM4.1-8B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采用已核实存在的明确量化标签；图片为模型下载页，不是本机成功运行凭证。首次测试用单人短文本，GPU不是下载成功的必要条件。</a:t>
            </a:r>
          </a:p>
          <a:p>
            <a:r>
              <a:t>核查日期：2026-10-18。</a:t>
            </a:r>
          </a:p>
          <a:p>
            <a:r>
              <a:t>来源：https://ollama.com/library/qwen3.5:4b-q4_K_M</a:t>
            </a:r>
          </a:p>
          <a:p>
            <a:r>
              <a:t>来源：https://ollama.com/download</a:t>
            </a:r>
          </a:p>
          <a:p>
            <a:r>
              <a:t>来源：https://docs.ollama.com/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GPU形状来自当前SGLang官方config。1017所有GPU配方明确verified:false；Pro表中只是同系列拓扑预算，不将老配方误称精确0813实测。硬件未在用户电脑部署，不提供吞吐保证。</a:t>
            </a:r>
          </a:p>
          <a:p>
            <a:r>
              <a:t>核查日期：2026-10-18。</a:t>
            </a:r>
          </a:p>
          <a:p>
            <a:r>
              <a:t>来源：https://docs.sglang.io/cookbook/autoregressive/DeepSeek/DeepSeek-V4_1</a:t>
            </a:r>
          </a:p>
          <a:p>
            <a:r>
              <a:t>来源：https://raw.githubusercontent.com/sgl-project/sglang/main/docs/src/snippets/configs/deepseek-ai/deepseek-v4_1.jsx</a:t>
            </a:r>
          </a:p>
          <a:p>
            <a:r>
              <a:t>来源：https://raw.githubusercontent.com/sgl-project/sglang/main/docs/src/snippets/configs/deepseek-ai/deepseek-v4.jsx</a:t>
            </a:r>
          </a:p>
          <a:p>
            <a:r>
              <a:t>来源：https://huggingface.co/deepseek-ai/DeepSeek-V4-Pro-0813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官方Diffusers文档给出80GB组件卸载与24—32GB INT8+分组卸载路径；主存128GB+为教学建议，不是官方最低值。未在本机安装、下载权重或实测出片。</a:t>
            </a:r>
          </a:p>
          <a:p>
            <a:r>
              <a:t>核查日期：2026-10-18。</a:t>
            </a:r>
          </a:p>
          <a:p>
            <a:r>
              <a:t>来源：https://huggingface.co/docs/diffusers/v0.41.0/api/pipelines/minimax_h3</a:t>
            </a:r>
          </a:p>
          <a:p>
            <a:r>
              <a:t>来源：https://huggingface.co/MiniMaxAI/MiniMax-H3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此为课程配置表单，空白线供学员记录；示例配置不是实测证明。用途为用户明确要求的本地部署参考，不增设其他课程主题。</a:t>
            </a:r>
          </a:p>
          <a:p>
            <a:r>
              <a:t>核查日期：2026-10-18。</a:t>
            </a:r>
          </a:p>
          <a:p>
            <a:r>
              <a:t>来源：https://docs.ollama.com/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功能形态来自当前API文档。事实正确性是模型使用边界，不将特定任务错误率泛化为所有场景。读取范围来自本次实际操作；长上下文与部署约束由后页真实测评说明。</a:t>
            </a:r>
          </a:p>
          <a:p>
            <a:r>
              <a:t>核查日期：2026-10-18。</a:t>
            </a:r>
          </a:p>
          <a:p>
            <a:r>
              <a:t>来源：https://api-docs.deepseek.com/quick_start/pricing/</a:t>
            </a:r>
          </a:p>
          <a:p>
            <a:r>
              <a:t>来源：https://huggingface.co/deepseek-ai/DeepSeek-V4.1-Flash-1017</a:t>
            </a:r>
          </a:p>
          <a:p>
            <a:r>
              <a:t>来源：https://artificialanalysis.ai/models/deepseek-v4-1-flash</a:t>
            </a:r>
          </a:p>
          <a:p>
            <a:r>
              <a:t>来源：https://docs.sglang.io/cookbook/autoregressive/DeepSeek/DeepSeek-V4_1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AA页面为独立测评原始发布方，数据为9月V4.1 Max与当下页面快照。HelixML为工程实验实施方，189/75来自同文同条件16并发比较；图例是原生表格，不声称本机实测。</a:t>
            </a:r>
          </a:p>
          <a:p>
            <a:r>
              <a:t>核查日期：2026-10-18。</a:t>
            </a:r>
          </a:p>
          <a:p>
            <a:r>
              <a:t>来源：https://artificialanalysis.ai/models/deepseek-v4-1-flash</a:t>
            </a:r>
          </a:p>
          <a:p>
            <a:r>
              <a:t>来源：https://www.helix.ml/blog/ramjet-deepseek-v41-flash-h200</a:t>
            </a:r>
          </a:p>
          <a:p>
            <a:r>
              <a:t>来源：https://huggingface.co/deepseek-ai/DeepSeek-V4.1-Flash-1017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保留通用文案选型主题，新增元宝；原ChatGPT移至后续国际工具对照页，未删除其教学用途。前三项参考QuestMobile 2026半年报的6月移动端规模，非10月实时榜。后五项为教学编排。功能以当前官网与官方帮助核查；未列未经同口径验证的价格数字。</a:t>
            </a:r>
          </a:p>
          <a:p>
            <a:r>
              <a:t>核查日期：2026-10-18。</a:t>
            </a:r>
          </a:p>
          <a:p>
            <a:r>
              <a:t>来源：https://www.questmobile.com.cn/research/report/2076954943839809537/</a:t>
            </a:r>
          </a:p>
          <a:p>
            <a:r>
              <a:t>来源：https://www.doubao.com/chat/</a:t>
            </a:r>
          </a:p>
          <a:p>
            <a:r>
              <a:t>来源：https://www.qianwen.com/</a:t>
            </a:r>
          </a:p>
          <a:p>
            <a:r>
              <a:t>来源：https://chat.deepseek.com/</a:t>
            </a:r>
          </a:p>
          <a:p>
            <a:r>
              <a:t>来源：https://www.kimi.com/help/others/capability</a:t>
            </a:r>
          </a:p>
          <a:p>
            <a:r>
              <a:t>来源：https://yuanbao.tencent.com/</a:t>
            </a:r>
          </a:p>
          <a:p>
            <a:r>
              <a:t>来源：https://chatglm.cn/</a:t>
            </a:r>
          </a:p>
          <a:p>
            <a:r>
              <a:t>来源：https://yiyan.baidu.com/</a:t>
            </a:r>
          </a:p>
          <a:p>
            <a:r>
              <a:t>来源：https://xinghuo.xfyun.cn/desktop-app-download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不展开新概念课程，只更新原通用文案工具对照。功能依据三家官方资料，不做无同口径测试的能力排名。</a:t>
            </a:r>
          </a:p>
          <a:p>
            <a:r>
              <a:t>核查日期：2026-10-18。</a:t>
            </a:r>
          </a:p>
          <a:p>
            <a:r>
              <a:t>来源：https://help.openai.com/en/articles/8555545-file-uploads-faq</a:t>
            </a:r>
          </a:p>
          <a:p>
            <a:r>
              <a:t>来源：https://support.claude.com/en/articles/12111783-create-and-edit-files-with-claude</a:t>
            </a:r>
          </a:p>
          <a:p>
            <a:r>
              <a:t>来源：https://claude.com/pricing</a:t>
            </a:r>
          </a:p>
          <a:p>
            <a:r>
              <a:t>来源：https://gemini.google/pf/overview/canvas/?hl=en-GB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原专题任务保留，工具清单按当前可验证官网重新编排。新华妙笔不据访问失败判定停运，只从本次首选表撤下；讯飞文书与魔音工坊继续沿用。新增WPS AI、Suno、MiniMax Audio。不给出未经登录实测的免费额度与固定单价。</a:t>
            </a:r>
          </a:p>
          <a:p>
            <a:r>
              <a:t>核查日期：2026-10-18。</a:t>
            </a:r>
          </a:p>
          <a:p>
            <a:r>
              <a:t>来源：https://ibiling.cn/novel-workbench</a:t>
            </a:r>
          </a:p>
          <a:p>
            <a:r>
              <a:t>来源：https://gw.iflydocs.com/docs/guide/</a:t>
            </a:r>
          </a:p>
          <a:p>
            <a:r>
              <a:t>来源：https://ai.wps.cn/introduction/assistanceWriting</a:t>
            </a:r>
          </a:p>
          <a:p>
            <a:r>
              <a:t>来源：https://blog.suno.com/blog/introducing-v6</a:t>
            </a:r>
          </a:p>
          <a:p>
            <a:r>
              <a:t>来源：https://www.minimax.io/audio</a:t>
            </a:r>
          </a:p>
          <a:p>
            <a:r>
              <a:t>来源：https://www.minimax.io/</a:t>
            </a:r>
          </a:p>
          <a:p>
            <a:r>
              <a:t>来源：https://www.moyin.com/member-center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1">
                <a:solidFill>
                  <a:schemeClr val="tx1"/>
                </a:solidFill>
                <a:latin typeface="Source Han Sans SC Heavy" panose="020B0500000000000000" charset="-122"/>
                <a:ea typeface="Source Han Sans SC Heavy" panose="020B0500000000000000" charset="-122"/>
                <a:cs typeface="Source Han Sans SC Heavy" panose="020B0500000000000000" charset="-122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7" Type="http://schemas.openxmlformats.org/officeDocument/2006/relationships/theme" Target="../theme/theme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_rels/slideMaster2.xml.rels><?xml version='1.0' encoding='utf-8'?>
<Relationships xmlns="http://schemas.openxmlformats.org/package/2006/relationships"><Relationship Id="rId7" Type="http://schemas.openxmlformats.org/officeDocument/2006/relationships/theme" Target="../theme/theme2.xml" /><Relationship Id="rId6" Type="http://schemas.openxmlformats.org/officeDocument/2006/relationships/slideLayout" Target="../slideLayouts/slideLayout12.xml" /><Relationship Id="rId5" Type="http://schemas.openxmlformats.org/officeDocument/2006/relationships/slideLayout" Target="../slideLayouts/slideLayout11.xml" /><Relationship Id="rId4" Type="http://schemas.openxmlformats.org/officeDocument/2006/relationships/slideLayout" Target="../slideLayouts/slideLayout10.xml" /><Relationship Id="rId3" Type="http://schemas.openxmlformats.org/officeDocument/2006/relationships/slideLayout" Target="../slideLayouts/slideLayout9.xml" /><Relationship Id="rId2" Type="http://schemas.openxmlformats.org/officeDocument/2006/relationships/slideLayout" Target="../slideLayouts/slideLayout8.xml" /><Relationship Id="rId1" Type="http://schemas.openxmlformats.org/officeDocument/2006/relationships/slideLayout" Target="../slideLayouts/slideLayout7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9pPr>
    </p:bodyStyle>
    <p:otherStyle>
      <a:lvl1pPr marL="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1pPr>
      <a:lvl2pPr marL="4572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2pPr>
      <a:lvl3pPr marL="9144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3pPr>
      <a:lvl4pPr marL="13716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4pPr>
      <a:lvl5pPr marL="18288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5pPr>
      <a:lvl6pPr marL="22860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6pPr>
      <a:lvl7pPr marL="27432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7pPr>
      <a:lvl8pPr marL="32004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8pPr>
      <a:lvl9pPr marL="36576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9pPr>
    </p:bodyStyle>
    <p:otherStyle>
      <a:lvl1pPr marL="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1pPr>
      <a:lvl2pPr marL="4572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2pPr>
      <a:lvl3pPr marL="9144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3pPr>
      <a:lvl4pPr marL="13716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4pPr>
      <a:lvl5pPr marL="18288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5pPr>
      <a:lvl6pPr marL="22860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6pPr>
      <a:lvl7pPr marL="27432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7pPr>
      <a:lvl8pPr marL="32004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8pPr>
      <a:lvl9pPr marL="3657600" algn="l">
        <a:buNone/>
        <a:defRPr sz="1800" b="1">
          <a:solidFill>
            <a:schemeClr val="tx1"/>
          </a:solidFill>
          <a:latin typeface="Source Han Sans SC Heavy" panose="020B0500000000000000" charset="-122"/>
          <a:ea typeface="Source Han Sans SC Heavy" panose="020B0500000000000000" charset="-122"/>
          <a:cs typeface="Source Han Sans SC Heavy" panose="020B0500000000000000" charset="-122"/>
        </a:defRPr>
      </a:lvl9pPr>
    </p:otherStyle>
  </p:txStyles>
</p:sldMaster>
</file>

<file path=ppt/slides/_rels/slide44.xml.rels><?xml version='1.0' encoding='utf-8'?>
<Relationships xmlns="http://schemas.openxmlformats.org/package/2006/relationships"><Relationship Id="rId9" Type="http://schemas.openxmlformats.org/officeDocument/2006/relationships/slideLayout" Target="../slideLayouts/slideLayout12.xml" /><Relationship Id="rId8" Type="http://schemas.openxmlformats.org/officeDocument/2006/relationships/image" Target="../media/image59.png" /><Relationship Id="rId7" Type="http://schemas.openxmlformats.org/officeDocument/2006/relationships/image" Target="../media/image58.png" /><Relationship Id="rId6" Type="http://schemas.openxmlformats.org/officeDocument/2006/relationships/image" Target="../media/image57.png" /><Relationship Id="rId5" Type="http://schemas.openxmlformats.org/officeDocument/2006/relationships/image" Target="../media/image56.png" /><Relationship Id="rId4" Type="http://schemas.openxmlformats.org/officeDocument/2006/relationships/image" Target="../media/image55.png" /><Relationship Id="rId3" Type="http://schemas.openxmlformats.org/officeDocument/2006/relationships/image" Target="../media/image54.png" /><Relationship Id="rId2" Type="http://schemas.openxmlformats.org/officeDocument/2006/relationships/image" Target="../media/image2.png" /><Relationship Id="rId10" Type="http://schemas.openxmlformats.org/officeDocument/2006/relationships/notesSlide" Target="../notesSlides/notesSlide43.xml" /><Relationship Id="rId1" Type="http://schemas.openxmlformats.org/officeDocument/2006/relationships/image" Target="../media/image5.png" /></Relationships>
</file>

<file path=ppt/slides/_rels/slide47.xml.rels><?xml version='1.0' encoding='utf-8'?>
<Relationships xmlns="http://schemas.openxmlformats.org/package/2006/relationships"><Relationship Id="rId4" Type="http://schemas.openxmlformats.org/officeDocument/2006/relationships/notesSlide" Target="../notesSlides/notesSlide46.xml" /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2.png" /><Relationship Id="rId1" Type="http://schemas.openxmlformats.org/officeDocument/2006/relationships/image" Target="../media/image5.png" /></Relationships>
</file>

<file path=ppt/slides/_rels/slide48.xml.rels><?xml version='1.0' encoding='utf-8'?>
<Relationships xmlns="http://schemas.openxmlformats.org/package/2006/relationships"><Relationship Id="rId5" Type="http://schemas.openxmlformats.org/officeDocument/2006/relationships/notesSlide" Target="../notesSlides/notesSlide47.xml" /><Relationship Id="rId4" Type="http://schemas.openxmlformats.org/officeDocument/2006/relationships/slideLayout" Target="../slideLayouts/slideLayout12.xml" /><Relationship Id="rId3" Type="http://schemas.openxmlformats.org/officeDocument/2006/relationships/image" Target="../media/image61.jpeg" /><Relationship Id="rId2" Type="http://schemas.openxmlformats.org/officeDocument/2006/relationships/image" Target="../media/image2.png" /><Relationship Id="rId1" Type="http://schemas.openxmlformats.org/officeDocument/2006/relationships/image" Target="../media/image5.png" /></Relationships>
</file>

<file path=ppt/slides/_rels/slide49.xml.rels><?xml version='1.0' encoding='utf-8'?>
<Relationships xmlns="http://schemas.openxmlformats.org/package/2006/relationships"><Relationship Id="rId4" Type="http://schemas.openxmlformats.org/officeDocument/2006/relationships/notesSlide" Target="../notesSlides/notesSlide48.xml" /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2.png" /><Relationship Id="rId1" Type="http://schemas.openxmlformats.org/officeDocument/2006/relationships/image" Target="../media/image5.png" /></Relationships>
</file>

<file path=ppt/slides/_rels/slide50.xml.rels><?xml version='1.0' encoding='utf-8'?>
<Relationships xmlns="http://schemas.openxmlformats.org/package/2006/relationships"><Relationship Id="rId5" Type="http://schemas.openxmlformats.org/officeDocument/2006/relationships/notesSlide" Target="../notesSlides/notesSlide49.xml" /><Relationship Id="rId4" Type="http://schemas.openxmlformats.org/officeDocument/2006/relationships/slideLayout" Target="../slideLayouts/slideLayout12.xml" /><Relationship Id="rId3" Type="http://schemas.openxmlformats.org/officeDocument/2006/relationships/image" Target="../media/image62.jpeg" /><Relationship Id="rId2" Type="http://schemas.openxmlformats.org/officeDocument/2006/relationships/image" Target="../media/image2.png" /><Relationship Id="rId1" Type="http://schemas.openxmlformats.org/officeDocument/2006/relationships/image" Target="../media/image5.png" /></Relationships>
</file>

<file path=ppt/slides/_rels/slide51.xml.rels><?xml version='1.0' encoding='utf-8'?>
<Relationships xmlns="http://schemas.openxmlformats.org/package/2006/relationships"><Relationship Id="rId4" Type="http://schemas.openxmlformats.org/officeDocument/2006/relationships/notesSlide" Target="../notesSlides/notesSlide50.xml" /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2.png" /><Relationship Id="rId1" Type="http://schemas.openxmlformats.org/officeDocument/2006/relationships/image" Target="../media/image5.png" /></Relationships>
</file>

<file path=ppt/slides/_rels/slide52.xml.rels><?xml version='1.0' encoding='utf-8'?>
<Relationships xmlns="http://schemas.openxmlformats.org/package/2006/relationships"><Relationship Id="rId4" Type="http://schemas.openxmlformats.org/officeDocument/2006/relationships/notesSlide" Target="../notesSlides/notesSlide51.xml" /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2.png" /><Relationship Id="rId1" Type="http://schemas.openxmlformats.org/officeDocument/2006/relationships/image" Target="../media/image5.png" /></Relationships>
</file>

<file path=ppt/slides/_rels/slide53.xml.rels><?xml version='1.0' encoding='utf-8'?>
<Relationships xmlns="http://schemas.openxmlformats.org/package/2006/relationships"><Relationship Id="rId5" Type="http://schemas.openxmlformats.org/officeDocument/2006/relationships/notesSlide" Target="../notesSlides/notesSlide52.xml" /><Relationship Id="rId4" Type="http://schemas.openxmlformats.org/officeDocument/2006/relationships/slideLayout" Target="../slideLayouts/slideLayout12.xml" /><Relationship Id="rId3" Type="http://schemas.openxmlformats.org/officeDocument/2006/relationships/image" Target="../media/image63.jpeg" /><Relationship Id="rId2" Type="http://schemas.openxmlformats.org/officeDocument/2006/relationships/image" Target="../media/image2.png" /><Relationship Id="rId1" Type="http://schemas.openxmlformats.org/officeDocument/2006/relationships/image" Target="../media/image5.png" /></Relationships>
</file>

<file path=ppt/slides/_rels/slide54.xml.rels><?xml version='1.0' encoding='utf-8'?>
<Relationships xmlns="http://schemas.openxmlformats.org/package/2006/relationships"><Relationship Id="rId4" Type="http://schemas.openxmlformats.org/officeDocument/2006/relationships/notesSlide" Target="../notesSlides/notesSlide53.xml" /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2.png" /><Relationship Id="rId1" Type="http://schemas.openxmlformats.org/officeDocument/2006/relationships/image" Target="../media/image5.png" /></Relationships>
</file>

<file path=ppt/slides/_rels/slide55.xml.rels><?xml version='1.0' encoding='utf-8'?>
<Relationships xmlns="http://schemas.openxmlformats.org/package/2006/relationships"><Relationship Id="rId4" Type="http://schemas.openxmlformats.org/officeDocument/2006/relationships/notesSlide" Target="../notesSlides/notesSlide54.xml" /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2.png" /><Relationship Id="rId1" Type="http://schemas.openxmlformats.org/officeDocument/2006/relationships/image" Target="../media/image5.png" /></Relationships>
</file>

<file path=ppt/slides/_rels/slide56.xml.rels><?xml version='1.0' encoding='utf-8'?>
<Relationships xmlns="http://schemas.openxmlformats.org/package/2006/relationships"><Relationship Id="rId4" Type="http://schemas.openxmlformats.org/officeDocument/2006/relationships/notesSlide" Target="../notesSlides/notesSlide55.xml" /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2.png" /><Relationship Id="rId1" Type="http://schemas.openxmlformats.org/officeDocument/2006/relationships/image" Target="../media/image5.png" /></Relationships>
</file>

<file path=ppt/slides/slide4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27" name="图片 26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3239" y="0"/>
            <ns1:ext cx="12185522" cy="6858000"/>
          </ns1:xfrm>
          <ns1:prstGeom prst="rect">
            <ns1:avLst/>
          </ns1:prstGeom>
        </ns0:spPr>
      </ns0:pic>
      <ns0:sp>
        <ns0:nvSpPr>
          <ns0:cNvPr id="2" name="layout"/>
          <ns0:cNvSpPr>
            <ns1:spLocks noGrp="1"/>
          </ns0:cNvSpPr>
          <ns0:nvPr/>
        </ns0:nvSpPr>
        <ns0:spPr>
          <ns1:xfrm>
            <ns1:off x="609600" y="476250"/>
            <ns1:ext cx="76200" cy="342900"/>
          </ns1:xfrm>
          <ns1:prstGeom prst="rect">
            <ns1:avLst/>
          </ns1:prstGeom>
          <ns1:solidFill>
            <ns1:srgbClr val="18A999"/>
          </ns1:solidFill>
          <ns1:ln w="0">
            <ns1:noFill/>
            <ns1:prstDash val="solid"/>
          </ns1:ln>
        </ns0:spPr>
      </ns0:sp>
      <ns0:sp>
        <ns0:nvSpPr>
          <ns0:cNvPr id="3" name="slide-title"/>
          <ns0:cNvSpPr>
            <ns1:spLocks noGrp="1"/>
          </ns0:cNvSpPr>
          <ns0:nvPr/>
        </ns0:nvSpPr>
        <ns0:spPr>
          <ns1:xfrm>
            <ns1:off x="819150" y="400050"/>
            <ns1:ext cx="10668000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GPT生成内容的原理：基于概率统计的文字接龙</ns1:t>
            </ns1:r>
            <ns1:endParaRPr sz="3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pic>
        <ns0:nvPicPr>
          <ns0:cNvPr id="4" name="hetu-footer-logo"/>
          <ns0:cNvPicPr>
            <ns1:picLocks noChangeAspect="1"/>
          </ns0:cNvPicPr>
          <ns0:nvPr/>
        </ns0:nvPicPr>
        <ns0:blipFill>
          <ns1:blip ns2:embed="rId2"/>
          <ns1:srcRect l="6458" t="22500" r="6510" b="22407"/>
          <ns1:stretch>
            <ns1:fillRect/>
          </ns1:stretch>
        </ns0:blipFill>
        <ns0:spPr>
          <ns1:xfrm>
            <ns1:off x="609600" y="6324600"/>
            <ns1:ext cx="914400" cy="323850"/>
          </ns1:xfrm>
          <ns1:prstGeom prst="rect">
            <ns1:avLst/>
          </ns1:prstGeom>
        </ns0:spPr>
      </ns0:pic>
      <ns0:sp>
        <ns0:nvSpPr>
          <ns0:cNvPr id="5" name="hetu-footer-folio"/>
          <ns0:cNvSpPr>
            <ns1:spLocks noGrp="1"/>
          </ns0:cNvSpPr>
          <ns0:nvPr/>
        </ns0:nvSpPr>
        <ns0:spPr>
          <ns1:xfrm>
            <ns1:off x="10629900" y="6419850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1 / 11</ns1:t>
            </ns1:r>
            <ns1:endParaRPr sz="10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6" name="原版曲线-文字生成路线"/>
          <ns0:cNvSpPr>
            <ns1:spLocks noGrp="1"/>
          </ns0:cNvSpPr>
          <ns0:nvPr/>
        </ns0:nvSpPr>
        <ns0:spPr>
          <ns1:xfrm>
            <ns1:off x="381000" y="2190750"/>
            <ns1:ext cx="10572750" cy="2857500"/>
          </ns1:xfrm>
          <ns1:custGeom>
            <ns1:avLst/>
            <ns1:gdLst/>
            <ns1:ahLst/>
            <ns1:cxnLst/>
            <ns1:pathLst>
              <ns1:path w="10572750" h="2857500">
                <ns1:moveTo>
                  <ns1:pt x="0" y="1627739"/>
                </ns1:moveTo>
                <ns1:cubicBezTo>
                  <ns1:pt x="112030" y="1500725"/>
                  <ns1:pt x="242836" y="1383481"/>
                  <ns1:pt x="389288" y="1279915"/>
                </ns1:cubicBezTo>
                <ns1:cubicBezTo>
                  <ns1:pt x="694711" y="1058454"/>
                  <ns1:pt x="1065849" y="886496"/>
                  <ns1:pt x="1475791" y="822012"/>
                </ns1:cubicBezTo>
                <ns1:cubicBezTo>
                  <ns1:pt x="2432114" y="670897"/>
                  <ns1:pt x="3308952" y="1152901"/>
                  <ns1:pt x="3934192" y="1670078"/>
                </ns1:cubicBezTo>
                <ns1:cubicBezTo>
                  <ns1:pt x="4083774" y="1793184"/>
                  <ns1:pt x="4217083" y="1922152"/>
                  <ns1:pt x="4351019" y="2055029"/>
                </ns1:cubicBezTo>
                <ns1:cubicBezTo>
                  <ns1:pt x="4696497" y="2340323"/>
                  <ns1:pt x="4941836" y="2560482"/>
                  <ns1:pt x="5388078" y="2714853"/>
                </ns1:cubicBezTo>
                <ns1:cubicBezTo>
                  <ns1:pt x="5817422" y="2861408"/>
                  <ns1:pt x="6337517" y="2896581"/>
                  <ns1:pt x="6793147" y="2812556"/>
                </ns1:cubicBezTo>
                <ns1:cubicBezTo>
                  <ns1:pt x="7751347" y="2587187"/>
                  <ns1:pt x="8499883" y="2114302"/>
                  <ns1:pt x="9098836" y="1526128"/>
                </ns1:cubicBezTo>
                <ns1:cubicBezTo>
                  <ns1:pt x="9516289" y="1117076"/>
                  <ns1:pt x="9909332" y="691089"/>
                  <ns1:pt x="10311764" y="271616"/>
                </ns1:cubicBezTo>
                <ns1:lnTo>
                  <ns1:pt x="10572750" y="0"/>
                </ns1:lnTo>
              </ns1:path>
            </ns1:pathLst>
          </ns1:custGeom>
          <ns1:noFill/>
          <ns1:ln w="28575">
            <ns1:solidFill>
              <ns1:srgbClr val="9DCFD3"/>
            </ns1:solidFill>
            <ns1:prstDash val="dash"/>
            <ns1:tailEnd type="triangle" w="med" len="med"/>
          </ns1:ln>
        </ns0:spPr>
      </ns0:sp>
      <ns0:pic>
        <ns0:nvPicPr>
          <ns0:cNvPr id="7" name="图片 6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1990725" y="2749847"/>
            <ns1:ext cx="628650" cy="520106"/>
          </ns1:xfrm>
          <ns1:prstGeom prst="rect">
            <ns1:avLst/>
          </ns1:prstGeom>
        </ns0:spPr>
      </ns0:pic>
      <ns0:pic>
        <ns0:nvPicPr>
          <ns0:cNvPr id="8" name="图片 7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3914775" y="3524792"/>
            <ns1:ext cx="647700" cy="608515"/>
          </ns1:xfrm>
          <ns1:prstGeom prst="rect">
            <ns1:avLst/>
          </ns1:prstGeom>
        </ns0:spPr>
      </ns0:pic>
      <ns0:pic>
        <ns0:nvPicPr>
          <ns0:cNvPr id="9" name="图片 8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5543550" y="4576715"/>
            <ns1:ext cx="704850" cy="695421"/>
          </ns1:xfrm>
          <ns1:prstGeom prst="rect">
            <ns1:avLst/>
          </ns1:prstGeom>
        </ns0:spPr>
      </ns0:pic>
      <ns0:pic>
        <ns0:nvPicPr>
          <ns0:cNvPr id="10" name="图片 9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7810500" y="4404187"/>
            <ns1:ext cx="685800" cy="507076"/>
          </ns1:xfrm>
          <ns1:prstGeom prst="rect">
            <ns1:avLst/>
          </ns1:prstGeom>
        </ns0:spPr>
      </ns0:pic>
      <ns0:pic>
        <ns0:nvPicPr>
          <ns0:cNvPr id="11" name="图片 10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9572625" y="2930567"/>
            <ns1:ext cx="685800" cy="615866"/>
          </ns1:xfrm>
          <ns1:prstGeom prst="rect">
            <ns1:avLst/>
          </ns1:prstGeom>
        </ns0:spPr>
      </ns0:pic>
      <ns0:pic>
        <ns0:nvPicPr>
          <ns0:cNvPr id="12" name="图片 11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10541492" y="1647825"/>
            <ns1:ext cx="824515" cy="895350"/>
          </ns1:xfrm>
          <ns1:prstGeom prst="rect">
            <ns1:avLst/>
          </ns1:prstGeom>
        </ns0:spPr>
      </ns0:pic>
      <ns0:sp>
        <ns0:nvSpPr>
          <ns0:cNvPr id="13" name="body"/>
          <ns0:cNvSpPr>
            <ns1:spLocks noGrp="1"/>
          </ns0:cNvSpPr>
          <ns0:nvPr/>
        </ns0:nvSpPr>
        <ns0:spPr>
          <ns1:xfrm>
            <ns1:off x="800100" y="3581400"/>
            <ns1:ext cx="24765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1  收到提示词</ns1:t>
            </ns1:r>
            <ns1:endParaRPr sz="21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4" name="body"/>
          <ns0:cNvSpPr>
            <ns1:spLocks noGrp="1"/>
          </ns0:cNvSpPr>
          <ns0:nvPr/>
        </ns0:nvSpPr>
        <ns0:spPr>
          <ns1:xfrm>
            <ns1:off x="800100" y="4019550"/>
            <ns1:ext cx="247650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3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23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23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23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23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23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23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23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23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23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23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3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“门外有一只”</ns1:t>
            </ns1:r>
            <ns1:endParaRPr sz="23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5" name="body"/>
          <ns0:cNvSpPr>
            <ns1:spLocks noGrp="1"/>
          </ns0:cNvSpPr>
          <ns0:nvPr/>
        </ns0:nvSpPr>
        <ns0:spPr>
          <ns1:xfrm>
            <ns1:off x="2400300" y="1590675"/>
            <ns1:ext cx="34290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2  将输入拆分为token</ns1:t>
            </ns1:r>
            <ns1:endParaRPr sz="21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6" name="body"/>
          <ns0:cNvSpPr>
            <ns1:spLocks noGrp="1"/>
          </ns0:cNvSpPr>
          <ns0:nvPr/>
        </ns0:nvSpPr>
        <ns0:spPr>
          <ns1:xfrm>
            <ns1:off x="2160270" y="2047875"/>
            <ns1:ext cx="372618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[门”,“外”,“有”,“一”,“只”]</ns1:t>
            </ns1:r>
            <ns1:endParaRPr sz="18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7" name="body"/>
          <ns0:cNvSpPr>
            <ns1:spLocks noGrp="1"/>
          </ns0:cNvSpPr>
          <ns0:nvPr/>
        </ns0:nvSpPr>
        <ns0:spPr>
          <ns1:xfrm>
            <ns1:off x="4200525" y="5391150"/>
            <ns1:ext cx="40005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3  Transformer处理</ns1:t>
            </ns1:r>
            <ns1:endParaRPr sz="21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8" name="body"/>
          <ns0:cNvSpPr>
            <ns1:spLocks noGrp="1"/>
          </ns0:cNvSpPr>
          <ns0:nvPr/>
        </ns0:nvSpPr>
        <ns0:spPr>
          <ns1:xfrm>
            <ns1:off x="4200525" y="5810250"/>
            <ns1:ext cx="45720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理解token之间的关系与整体含义</ns1:t>
            </ns1:r>
            <ns1:endParaRPr sz="18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9" name="body"/>
          <ns0:cNvSpPr>
            <ns1:spLocks noGrp="1"/>
          </ns0:cNvSpPr>
          <ns0:nvPr/>
        </ns0:nvSpPr>
        <ns0:spPr>
          <ns1:xfrm>
            <ns1:off x="6391275" y="3409950"/>
            <ns1:ext cx="3333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0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20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20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20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20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20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20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20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20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20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20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0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4  预测下一个token</ns1:t>
            </ns1:r>
            <ns1:endParaRPr sz="20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20" name="body"/>
          <ns0:cNvSpPr>
            <ns1:spLocks noGrp="1"/>
          </ns0:cNvSpPr>
          <ns0:nvPr/>
        </ns0:nvSpPr>
        <ns0:spPr>
          <ns1:xfrm>
            <ns1:off x="6391275" y="3829050"/>
            <ns1:ext cx="3000375" cy="714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基于上下文，</ns1:t>
            </ns1:r>
            <ns1:endParaRPr sz="18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为可能的词分配概率分数</ns1:t>
            </ns1:r>
            <ns1:endParaRPr sz="18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21" name="body"/>
          <ns0:cNvSpPr>
            <ns1:spLocks noGrp="1"/>
          </ns0:cNvSpPr>
          <ns0:nvPr/>
        </ns0:nvSpPr>
        <ns0:spPr>
          <ns1:xfrm>
            <ns1:off x="9229725" y="4076700"/>
            <ns1:ext cx="2571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5  按概率选择token</ns1:t>
            </ns1:r>
            <ns1:endParaRPr sz="19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22" name="body"/>
          <ns0:cNvSpPr>
            <ns1:spLocks noGrp="1"/>
          </ns0:cNvSpPr>
          <ns0:nvPr/>
        </ns0:nvSpPr>
        <ns0:spPr>
          <ns1:xfrm>
            <ns1:off x="9229725" y="4505325"/>
            <ns1:ext cx="2419350" cy="952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示例：“猫”</ns1:t>
            </ns1:r>
            <ns1:endParaRPr sz="17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再继续预测下一个token</ns1:t>
            </ns1:r>
            <ns1:endParaRPr sz="17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23" name="body"/>
          <ns0:cNvSpPr>
            <ns1:spLocks noGrp="1"/>
          </ns0:cNvSpPr>
          <ns0:nvPr/>
        </ns0:nvSpPr>
        <ns0:spPr>
          <ns1:xfrm>
            <ns1:off x="8829675" y="1333500"/>
            <ns1:ext cx="28575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输出：门外有一只猫</ns1:t>
            </ns1:r>
            <ns1:endParaRPr sz="21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24" name="body"/>
          <ns0:cNvSpPr>
            <ns1:spLocks noGrp="1"/>
          </ns0:cNvSpPr>
          <ns0:nvPr/>
        </ns0:nvSpPr>
        <ns0:spPr>
          <ns1:xfrm>
            <ns1:off x="6296025" y="1600200"/>
            <ns1:ext cx="23812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概率示意</ns1:t>
            </ns1:r>
            <ns1:endParaRPr sz="18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25" name="body"/>
          <ns0:cNvSpPr>
            <ns1:spLocks noGrp="1"/>
          </ns0:cNvSpPr>
          <ns0:nvPr/>
        </ns0:nvSpPr>
        <ns0:spPr>
          <ns1:xfrm>
            <ns1:off x="6296025" y="2000250"/>
            <ns1:ext cx="2381250" cy="1085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猫 40%</ns1:t>
            </ns1:r>
            <ns1:endParaRPr sz="2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狗 20%</ns1:t>
            </ns1:r>
            <ns1:endParaRPr sz="2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其他 40%</ns1:t>
            </ns1:r>
            <ns1:endParaRPr sz="2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26" name="body"/>
          <ns0:cNvSpPr>
            <ns1:spLocks noGrp="1"/>
          </ns0:cNvSpPr>
          <ns0:nvPr/>
        </ns0:nvSpPr>
        <ns0:spPr>
          <ns1:xfrm>
            <ns1:off x="609600" y="5905500"/>
            <ns1:ext cx="3381375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0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0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0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0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0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0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0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0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0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0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0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0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教学示意，非实测概率。实际token划分由分词器决定。</ns1:t>
            </ns1:r>
            <ns1:endParaRPr sz="105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</ns0:spTree>
  </ns0:cSld>
  <ns0:clrMapOvr>
    <ns1:masterClrMapping/>
  </ns0:clrMapOvr>
</ns0:sld>
</file>

<file path=ppt/slides/slide4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9" name="图片 8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3239" y="0"/>
            <ns1:ext cx="12185522" cy="6858000"/>
          </ns1:xfrm>
          <ns1:prstGeom prst="rect">
            <ns1:avLst/>
          </ns1:prstGeom>
        </ns0:spPr>
      </ns0:pic>
      <ns0:sp>
        <ns0:nvSpPr>
          <ns0:cNvPr id="2" name="layout"/>
          <ns0:cNvSpPr>
            <ns1:spLocks noGrp="1"/>
          </ns0:cNvSpPr>
          <ns0:nvPr/>
        </ns0:nvSpPr>
        <ns0:spPr>
          <ns1:xfrm>
            <ns1:off x="609600" y="476250"/>
            <ns1:ext cx="76200" cy="342900"/>
          </ns1:xfrm>
          <ns1:prstGeom prst="rect">
            <ns1:avLst/>
          </ns1:prstGeom>
          <ns1:solidFill>
            <ns1:srgbClr val="18A999"/>
          </ns1:solidFill>
          <ns1:ln w="0">
            <ns1:noFill/>
            <ns1:prstDash val="solid"/>
          </ns1:ln>
        </ns0:spPr>
      </ns0:sp>
      <ns0:sp>
        <ns0:nvSpPr>
          <ns0:cNvPr id="3" name="slide-title"/>
          <ns0:cNvSpPr>
            <ns1:spLocks noGrp="1"/>
          </ns0:cNvSpPr>
          <ns0:nvPr/>
        </ns0:nvSpPr>
        <ns0:spPr>
          <ns1:xfrm>
            <ns1:off x="819150" y="400050"/>
            <ns1:ext cx="10668000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国产轻量模型：本地部署配置参考</ns1:t>
            </ns1:r>
            <ns1:endParaRPr sz="3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4" name="body"/>
          <ns0:cNvSpPr>
            <ns1:spLocks noGrp="1"/>
          </ns0:cNvSpPr>
          <ns0:nvPr/>
        </ns0:nvSpPr>
        <ns0:spPr>
          <ns1:xfrm>
            <ns1:off x="819150" y="1057275"/>
            <ns1:ext cx="106203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单人、文本任务、约8K上下文起步｜内存与显存为教学建议预算，非官方最低值或本机实测</ns1:t>
            </ns1:r>
            <ns1:endParaRPr sz="15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pic>
        <ns0:nvPicPr>
          <ns0:cNvPr id="5" name="hetu-footer-logo"/>
          <ns0:cNvPicPr>
            <ns1:picLocks noChangeAspect="1"/>
          </ns0:cNvPicPr>
          <ns0:nvPr/>
        </ns0:nvPicPr>
        <ns0:blipFill>
          <ns1:blip ns2:embed="rId2"/>
          <ns1:srcRect l="6458" t="22500" r="6510" b="22407"/>
          <ns1:stretch>
            <ns1:fillRect/>
          </ns1:stretch>
        </ns0:blipFill>
        <ns0:spPr>
          <ns1:xfrm>
            <ns1:off x="609600" y="6324600"/>
            <ns1:ext cx="914400" cy="323850"/>
          </ns1:xfrm>
          <ns1:prstGeom prst="rect">
            <ns1:avLst/>
          </ns1:prstGeom>
        </ns0:spPr>
      </ns0:pic>
      <ns0:sp>
        <ns0:nvSpPr>
          <ns0:cNvPr id="6" name="hetu-footer-folio"/>
          <ns0:cNvSpPr>
            <ns1:spLocks noGrp="1"/>
          </ns0:cNvSpPr>
          <ns0:nvPr/>
        </ns0:nvSpPr>
        <ns0:spPr>
          <ns1:xfrm>
            <ns1:off x="10629900" y="6419850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2 / 11</ns1:t>
            </ns1:r>
            <ns1:endParaRPr sz="10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graphicFrame>
        <ns0:nvGraphicFramePr>
          <ns0:cNvPr id="7" name="表格 6"/>
          <ns0:cNvGraphicFramePr/>
          <ns0:nvPr/>
        </ns0:nvGraphicFramePr>
        <ns0:xfrm>
          <ns1:off x="609600" y="1562100"/>
          <ns1:ext cx="10972800" cy="4124328"/>
        </ns0:xfrm>
        <ns1:graphic>
          <ns1:graphicData uri="http://schemas.openxmlformats.org/drawingml/2006/table">
            <ns1:tbl>
              <ns1:tblPr/>
              <ns1:tblGrid>
                <ns1:gridCol w="2314575"/>
                <ns1:gridCol w="1333500"/>
                <ns1:gridCol w="1190625"/>
                <ns1:gridCol w="2781300"/>
                <ns1:gridCol w="3352800"/>
              </ns1:tblGrid>
              <ns1:tr h="687388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模型 / 精度</ns1:t>
                      </ns1:r>
                      <ns1:endParaRPr sz="170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下载体量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内存建议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独显/统一内存建议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适用任务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</ns1:tr>
              <ns1:tr h="687388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Qwen3.5-4B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Q4_K_M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约3.3GB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16GB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8GB显存；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Mac 16GB统一内存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入门问答、短文改写、摘要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7388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Qwen3.5-9B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Q4_K_M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约6.6GB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32GB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12GB显存；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Mac 24GB+统一内存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中文写作、资料理解、轻量代码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</ns1:tr>
              <ns1:tr h="687388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Qwen3.8-27B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Q4_K_M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约18GB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64GB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32GB显存；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Mac 48GB+统一内存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较复杂写作与图文理解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7388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GLM-4.7-Flash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Q4_K_M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约19GB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64GB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32GB显存；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Mac 48GB+统一内存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推理与代码；30B级MoE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</ns1:tr>
              <ns1:tr h="687388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MiniCPM4.1-8B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BF16原权重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约16.4GB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64GB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32GB显存；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Mac需兼容的转换版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中文长文与本地研究测试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body"/>
          <ns0:cNvSpPr>
            <ns1:spLocks noGrp="1"/>
          </ns0:cNvSpPr>
          <ns0:nvPr/>
        </ns0:nvSpPr>
        <ns0:spPr>
          <ns1:xfrm>
            <ns1:off x="609600" y="5819775"/>
            <ns1:ext cx="109728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下载大小≠运行内存。独显与统一内存不能相加比较；CPU可卸载但通常更慢。磁盘至少留下载体量的2—3倍。</ns1:t>
            </ns1:r>
            <ns1:endParaRPr sz="125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</ns0:spTree>
  </ns0:cSld>
  <ns0:clrMapOvr>
    <ns1:masterClrMapping/>
  </ns0:clrMapOvr>
</ns0:sld>
</file>

<file path=ppt/slides/slide4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15" name="图片 14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3239" y="0"/>
            <ns1:ext cx="12185522" cy="6858000"/>
          </ns1:xfrm>
          <ns1:prstGeom prst="rect">
            <ns1:avLst/>
          </ns1:prstGeom>
        </ns0:spPr>
      </ns0:pic>
      <ns0:sp>
        <ns0:nvSpPr>
          <ns0:cNvPr id="2" name="layout"/>
          <ns0:cNvSpPr>
            <ns1:spLocks noGrp="1"/>
          </ns0:cNvSpPr>
          <ns0:nvPr/>
        </ns0:nvSpPr>
        <ns0:spPr>
          <ns1:xfrm>
            <ns1:off x="609600" y="476250"/>
            <ns1:ext cx="76200" cy="342900"/>
          </ns1:xfrm>
          <ns1:prstGeom prst="rect">
            <ns1:avLst/>
          </ns1:prstGeom>
          <ns1:solidFill>
            <ns1:srgbClr val="18A999"/>
          </ns1:solidFill>
          <ns1:ln w="0">
            <ns1:noFill/>
            <ns1:prstDash val="solid"/>
          </ns1:ln>
        </ns0:spPr>
      </ns0:sp>
      <ns0:sp>
        <ns0:nvSpPr>
          <ns0:cNvPr id="3" name="slide-title"/>
          <ns0:cNvSpPr>
            <ns1:spLocks noGrp="1"/>
          </ns0:cNvSpPr>
          <ns0:nvPr/>
        </ns0:nvSpPr>
        <ns0:spPr>
          <ns1:xfrm>
            <ns1:off x="819150" y="400050"/>
            <ns1:ext cx="10668000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千问本地入门：先用4B跑通一次</ns1:t>
            </ns1:r>
            <ns1:endParaRPr sz="3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4" name="body"/>
          <ns0:cNvSpPr>
            <ns1:spLocks noGrp="1"/>
          </ns0:cNvSpPr>
          <ns0:nvPr/>
        </ns0:nvSpPr>
        <ns0:spPr>
          <ns1:xfrm>
            <ns1:off x="819150" y="1057275"/>
            <ns1:ext cx="106203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示例选择：Qwen3.5-4B Q4_K_M｜首次下载需要联网；此页为操作指引，非本机运行截图</ns1:t>
            </ns1:r>
            <ns1:endParaRPr sz="15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pic>
        <ns0:nvPicPr>
          <ns0:cNvPr id="5" name="hetu-footer-logo"/>
          <ns0:cNvPicPr>
            <ns1:picLocks noChangeAspect="1"/>
          </ns0:cNvPicPr>
          <ns0:nvPr/>
        </ns0:nvPicPr>
        <ns0:blipFill>
          <ns1:blip ns2:embed="rId2"/>
          <ns1:srcRect l="6458" t="22500" r="6510" b="22407"/>
          <ns1:stretch>
            <ns1:fillRect/>
          </ns1:stretch>
        </ns0:blipFill>
        <ns0:spPr>
          <ns1:xfrm>
            <ns1:off x="609600" y="6324600"/>
            <ns1:ext cx="914400" cy="323850"/>
          </ns1:xfrm>
          <ns1:prstGeom prst="rect">
            <ns1:avLst/>
          </ns1:prstGeom>
        </ns0:spPr>
      </ns0:pic>
      <ns0:sp>
        <ns0:nvSpPr>
          <ns0:cNvPr id="6" name="hetu-footer-folio"/>
          <ns0:cNvSpPr>
            <ns1:spLocks noGrp="1"/>
          </ns0:cNvSpPr>
          <ns0:nvPr/>
        </ns0:nvSpPr>
        <ns0:spPr>
          <ns1:xfrm>
            <ns1:off x="10629900" y="6419850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3 / 11</ns1:t>
            </ns1:r>
            <ns1:endParaRPr sz="10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7" name="body"/>
          <ns0:cNvSpPr>
            <ns1:spLocks noGrp="1"/>
          </ns0:cNvSpPr>
          <ns0:nvPr/>
        </ns0:nvSpPr>
        <ns0:spPr>
          <ns1:xfrm>
            <ns1:off x="609600" y="1495425"/>
            <ns1:ext cx="47625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准备</ns1:t>
            </ns1:r>
            <ns1:endParaRPr sz="21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8" name="body"/>
          <ns0:cNvSpPr>
            <ns1:spLocks noGrp="1"/>
          </ns0:cNvSpPr>
          <ns0:nvPr/>
        </ns0:nvSpPr>
        <ns0:spPr>
          <ns1:xfrm>
            <ns1:off x="609600" y="1943100"/>
            <ns1:ext cx="4762500" cy="1676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安装当前稳定版 Ollama。</ns1:t>
            </ns1:r>
            <ns1:endParaRPr sz="2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准备16GB内存，磁盘留10GB以上。</ns1:t>
            </ns1:r>
            <ns1:endParaRPr sz="2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Windows/Linux检查显卡驱动；</ns1:t>
            </ns1:r>
            <ns1:endParaRPr sz="2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Apple Silicon可用统一内存。</ns1:t>
            </ns1:r>
            <ns1:endParaRPr sz="2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9" name="body"/>
          <ns0:cNvSpPr>
            <ns1:spLocks noGrp="1"/>
          </ns0:cNvSpPr>
          <ns0:nvPr/>
        </ns0:nvSpPr>
        <ns0:spPr>
          <ns1:xfrm>
            <ns1:off x="609600" y="3876675"/>
            <ns1:ext cx="47625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在终端运行</ns1:t>
            </ns1:r>
            <ns1:endParaRPr sz="21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0" name="body"/>
          <ns0:cNvSpPr>
            <ns1:spLocks noGrp="1"/>
          </ns0:cNvSpPr>
          <ns0:nvPr/>
        </ns0:nvSpPr>
        <ns0:spPr>
          <ns1:xfrm>
            <ns1:off x="609600" y="4333875"/>
            <ns1:ext cx="504825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ollama run qwen3.5:4b-q4_K_M</ns1:t>
            </ns1:r>
            <ns1:endParaRPr sz="17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1" name="body"/>
          <ns0:cNvSpPr>
            <ns1:spLocks noGrp="1"/>
          </ns0:cNvSpPr>
          <ns0:nvPr/>
        </ns0:nvSpPr>
        <ns0:spPr>
          <ns1:xfrm>
            <ns1:off x="609600" y="5038725"/>
            <ns1:ext cx="49530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先用同一条短任务验收</ns1:t>
            </ns1:r>
            <ns1:endParaRPr sz="21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2" name="body"/>
          <ns0:cNvSpPr>
            <ns1:spLocks noGrp="1"/>
          </ns0:cNvSpPr>
          <ns0:nvPr/>
        </ns0:nvSpPr>
        <ns0:spPr>
          <ns1:xfrm>
            <ns1:off x="609600" y="5495925"/>
            <ns1:ext cx="4857750" cy="695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“把下面200字材料整理为3点，</ns1:t>
            </ns1:r>
            <ns1:endParaRPr sz="19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不增加原文没有的事实。”</ns1:t>
            </ns1:r>
            <ns1:endParaRPr sz="19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pic>
        <ns0:nvPicPr>
          <ns0:cNvPr id="13" name="图片 12"/>
          <ns0:cNvPicPr>
            <ns1:picLocks noChangeAspect="1"/>
          </ns0:cNvPicPr>
          <ns0:nvPr/>
        </ns0:nvPicPr>
        <ns0:blipFill>
          <ns1:blip ns2:embed="rId3"/>
          <ns1:srcRect l="18000" t="18000" r="18000" b="32000"/>
          <ns1:stretch>
            <ns1:fillRect/>
          </ns1:stretch>
        </ns0:blipFill>
        <ns0:spPr>
          <ns1:xfrm>
            <ns1:off x="5895975" y="2265266"/>
            <ns1:ext cx="5686425" cy="2498917"/>
          </ns1:xfrm>
          <ns1:prstGeom prst="rect">
            <ns1:avLst/>
          </ns1:prstGeom>
        </ns0:spPr>
      </ns0:pic>
      <ns0:sp>
        <ns0:nvSpPr>
          <ns0:cNvPr id="14" name="body"/>
          <ns0:cNvSpPr>
            <ns1:spLocks noGrp="1"/>
          </ns0:cNvSpPr>
          <ns0:nvPr/>
        </ns0:nvSpPr>
        <ns0:spPr>
          <ns1:xfrm>
            <ns1:off x="5895975" y="5772150"/>
            <ns1:ext cx="56864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官方模型库真实截图｜明确参数、标签和运行命令</ns1:t>
            </ns1:r>
            <ns1:endParaRPr sz="125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</ns0:spTree>
  </ns0:cSld>
  <ns0:clrMapOvr>
    <ns1:masterClrMapping/>
  </ns0:clrMapOvr>
</ns0:sld>
</file>

<file path=ppt/slides/slide4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10" name="图片 9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3239" y="0"/>
            <ns1:ext cx="12185522" cy="6858000"/>
          </ns1:xfrm>
          <ns1:prstGeom prst="rect">
            <ns1:avLst/>
          </ns1:prstGeom>
        </ns0:spPr>
      </ns0:pic>
      <ns0:sp>
        <ns0:nvSpPr>
          <ns0:cNvPr id="2" name="layout"/>
          <ns0:cNvSpPr>
            <ns1:spLocks noGrp="1"/>
          </ns0:cNvSpPr>
          <ns0:nvPr/>
        </ns0:nvSpPr>
        <ns0:spPr>
          <ns1:xfrm>
            <ns1:off x="609600" y="476250"/>
            <ns1:ext cx="76200" cy="342900"/>
          </ns1:xfrm>
          <ns1:prstGeom prst="rect">
            <ns1:avLst/>
          </ns1:prstGeom>
          <ns1:solidFill>
            <ns1:srgbClr val="18A999"/>
          </ns1:solidFill>
          <ns1:ln w="0">
            <ns1:noFill/>
            <ns1:prstDash val="solid"/>
          </ns1:ln>
        </ns0:spPr>
      </ns0:sp>
      <ns0:sp>
        <ns0:nvSpPr>
          <ns0:cNvPr id="3" name="slide-title"/>
          <ns0:cNvSpPr>
            <ns1:spLocks noGrp="1"/>
          </ns0:cNvSpPr>
          <ns0:nvPr/>
        </ns0:nvSpPr>
        <ns0:spPr>
          <ns1:xfrm>
            <ns1:off x="819150" y="400050"/>
            <ns1:ext cx="10668000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DeepSeek大型模型：企业服务器参考清单</ns1:t>
            </ns1:r>
            <ns1:endParaRPr sz="3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4" name="body"/>
          <ns0:cNvSpPr>
            <ns1:spLocks noGrp="1"/>
          </ns0:cNvSpPr>
          <ns0:nvPr/>
        </ns0:nvSpPr>
        <ns0:spPr>
          <ns1:xfrm>
            <ns1:off x="819150" y="1057275"/>
            <ns1:ext cx="106203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按SGLang官方配方核对｜最新1017权重的GPU验证仍标为待完成，不能把旧版本通过直接当作新版本通过</ns1:t>
            </ns1:r>
            <ns1:endParaRPr sz="15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pic>
        <ns0:nvPicPr>
          <ns0:cNvPr id="5" name="hetu-footer-logo"/>
          <ns0:cNvPicPr>
            <ns1:picLocks noChangeAspect="1"/>
          </ns0:cNvPicPr>
          <ns0:nvPr/>
        </ns0:nvPicPr>
        <ns0:blipFill>
          <ns1:blip ns2:embed="rId2"/>
          <ns1:srcRect l="6458" t="22500" r="6510" b="22407"/>
          <ns1:stretch>
            <ns1:fillRect/>
          </ns1:stretch>
        </ns0:blipFill>
        <ns0:spPr>
          <ns1:xfrm>
            <ns1:off x="609600" y="6324600"/>
            <ns1:ext cx="914400" cy="323850"/>
          </ns1:xfrm>
          <ns1:prstGeom prst="rect">
            <ns1:avLst/>
          </ns1:prstGeom>
        </ns0:spPr>
      </ns0:pic>
      <ns0:sp>
        <ns0:nvSpPr>
          <ns0:cNvPr id="6" name="hetu-footer-folio"/>
          <ns0:cNvSpPr>
            <ns1:spLocks noGrp="1"/>
          </ns0:cNvSpPr>
          <ns0:nvPr/>
        </ns0:nvSpPr>
        <ns0:spPr>
          <ns1:xfrm>
            <ns1:off x="10629900" y="6419850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4 / 11</ns1:t>
            </ns1:r>
            <ns1:endParaRPr sz="10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graphicFrame>
        <ns0:nvGraphicFramePr>
          <ns0:cNvPr id="7" name="表格 6"/>
          <ns0:cNvGraphicFramePr/>
          <ns0:nvPr/>
        </ns0:nvGraphicFramePr>
        <ns0:xfrm>
          <ns1:off x="609600" y="1619250"/>
          <ns1:ext cx="10972800" cy="3124200"/>
        </ns0:xfrm>
        <ns1:graphic>
          <ns1:graphicData uri="http://schemas.openxmlformats.org/drawingml/2006/table">
            <ns1:tbl>
              <ns1:tblPr/>
              <ns1:tblGrid>
                <ns1:gridCol w="2476500"/>
                <ns1:gridCol w="2571750"/>
                <ns1:gridCol w="3009900"/>
                <ns1:gridCol w="2914650"/>
              </ns1:tblGrid>
              <ns1:tr h="781050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目标模型</ns1:t>
                      </ns1:r>
                      <ns1:endParaRPr sz="170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参考GPU拓扑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精度 / 框架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验证状态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</ns1:tr>
              <ns1:tr h="781050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V4.1-Flash-1017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最新公开权重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8×H200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或4×B200 / GB300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官方FP4混合权重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SGLang dev-dsv41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同系配方已列出；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1017 GPU验证待完成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781050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V4.1-Flash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同系已验证基线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8×H200 / 4×B200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或2×MI355X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FP4混合权重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NVIDIA预览镜像；AMD指定ROCm镜像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官方同系配方已验证；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上下文、并发须实测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</ns1:tr>
              <ns1:tr h="781050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V4-Pro-0813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当前Pro公开权重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8×B200 / B300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作为同系列预算参考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FP4混合权重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对应V4-Pro配方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同系配方可供参考；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0813精确版本须重验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body"/>
          <ns0:cNvSpPr>
            <ns1:spLocks noGrp="1"/>
          </ns0:cNvSpPr>
          <ns0:nvPr/>
        </ns0:nvSpPr>
        <ns0:spPr>
          <ns1:xfrm>
            <ns1:off x="609600" y="5000625"/>
            <ns1:ext cx="104775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9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配套预算与交付项</ns1:t>
            </ns1:r>
            <ns1:endParaRPr sz="19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9" name="body"/>
          <ns0:cNvSpPr>
            <ns1:spLocks noGrp="1"/>
          </ns0:cNvSpPr>
          <ns0:nvPr/>
        </ns0:nvSpPr>
        <ns0:spPr>
          <ns1:xfrm>
            <ns1:off x="609600" y="5448300"/>
            <ns1:ext cx="10972800" cy="762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55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55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55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55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55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55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55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55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55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55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55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55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建议先按32核以上CPU、1TB主存、2TB可用NVMe作预算；GPU互联、驱动和框架版本由供应商联调。</ns1:t>
            </ns1:r>
            <ns1:endParaRPr sz="155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155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55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这组CPU/内存/磁盘是教学工程预算，不是厂商最低配置；采购前用实际材料测首字延迟、速度、显存与并发。</ns1:t>
            </ns1:r>
            <ns1:endParaRPr sz="155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</ns0:spTree>
  </ns0:cSld>
  <ns0:clrMapOvr>
    <ns1:masterClrMapping/>
  </ns0:clrMapOvr>
</ns0:sld>
</file>

<file path=ppt/slides/slide5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11" name="图片 10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3239" y="0"/>
            <ns1:ext cx="12185522" cy="6858000"/>
          </ns1:xfrm>
          <ns1:prstGeom prst="rect">
            <ns1:avLst/>
          </ns1:prstGeom>
        </ns0:spPr>
      </ns0:pic>
      <ns0:sp>
        <ns0:nvSpPr>
          <ns0:cNvPr id="2" name="layout"/>
          <ns0:cNvSpPr>
            <ns1:spLocks noGrp="1"/>
          </ns0:cNvSpPr>
          <ns0:nvPr/>
        </ns0:nvSpPr>
        <ns0:spPr>
          <ns1:xfrm>
            <ns1:off x="609600" y="476250"/>
            <ns1:ext cx="76200" cy="342900"/>
          </ns1:xfrm>
          <ns1:prstGeom prst="rect">
            <ns1:avLst/>
          </ns1:prstGeom>
          <ns1:solidFill>
            <ns1:srgbClr val="18A999"/>
          </ns1:solidFill>
          <ns1:ln w="0">
            <ns1:noFill/>
            <ns1:prstDash val="solid"/>
          </ns1:ln>
        </ns0:spPr>
      </ns0:sp>
      <ns0:sp>
        <ns0:nvSpPr>
          <ns0:cNvPr id="3" name="slide-title"/>
          <ns0:cNvSpPr>
            <ns1:spLocks noGrp="1"/>
          </ns0:cNvSpPr>
          <ns0:nvPr/>
        </ns0:nvSpPr>
        <ns0:spPr>
          <ns1:xfrm>
            <ns1:off x="819150" y="400050"/>
            <ns1:ext cx="10668000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MiniMax H3：本地音视频生成的配置门槛</ns1:t>
            </ns1:r>
            <ns1:endParaRPr sz="3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4" name="body"/>
          <ns0:cNvSpPr>
            <ns1:spLocks noGrp="1"/>
          </ns0:cNvSpPr>
          <ns0:nvPr/>
        </ns0:nvSpPr>
        <ns0:spPr>
          <ns1:xfrm>
            <ns1:off x="819150" y="1057275"/>
            <ns1:ext cx="106203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H3-Base是音视频生成模型，不能放进“小参数聊天模型”表；本地基础模型与完整云端2K链路分开</ns1:t>
            </ns1:r>
            <ns1:endParaRPr sz="15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pic>
        <ns0:nvPicPr>
          <ns0:cNvPr id="5" name="hetu-footer-logo"/>
          <ns0:cNvPicPr>
            <ns1:picLocks noChangeAspect="1"/>
          </ns0:cNvPicPr>
          <ns0:nvPr/>
        </ns0:nvPicPr>
        <ns0:blipFill>
          <ns1:blip ns2:embed="rId2"/>
          <ns1:srcRect l="6458" t="22500" r="6510" b="22407"/>
          <ns1:stretch>
            <ns1:fillRect/>
          </ns1:stretch>
        </ns0:blipFill>
        <ns0:spPr>
          <ns1:xfrm>
            <ns1:off x="609600" y="6324600"/>
            <ns1:ext cx="914400" cy="323850"/>
          </ns1:xfrm>
          <ns1:prstGeom prst="rect">
            <ns1:avLst/>
          </ns1:prstGeom>
        </ns0:spPr>
      </ns0:pic>
      <ns0:sp>
        <ns0:nvSpPr>
          <ns0:cNvPr id="6" name="hetu-footer-folio"/>
          <ns0:cNvSpPr>
            <ns1:spLocks noGrp="1"/>
          </ns0:cNvSpPr>
          <ns0:nvPr/>
        </ns0:nvSpPr>
        <ns0:spPr>
          <ns1:xfrm>
            <ns1:off x="10629900" y="6419850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5 / 11</ns1:t>
            </ns1:r>
            <ns1:endParaRPr sz="10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graphicFrame>
        <ns0:nvGraphicFramePr>
          <ns0:cNvPr id="7" name="表格 6"/>
          <ns0:cNvGraphicFramePr/>
          <ns0:nvPr/>
        </ns0:nvGraphicFramePr>
        <ns0:xfrm>
          <ns1:off x="609600" y="1657350"/>
          <ns1:ext cx="6496050" cy="2857500"/>
        </ns0:xfrm>
        <ns1:graphic>
          <ns1:graphicData uri="http://schemas.openxmlformats.org/drawingml/2006/table">
            <ns1:tbl>
              <ns1:tblPr/>
              <ns1:tblGrid>
                <ns1:gridCol w="1333500"/>
                <ns1:gridCol w="2743200"/>
                <ns1:gridCol w="2419350"/>
              </ns1:tblGrid>
              <ns1:tr h="714375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方案</ns1:t>
                      </ns1:r>
                      <ns1:endParaRPr sz="170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显存与加载方式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建议准备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</ns1:tr>
              <ns1:tr h="714375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较大显存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80GB单卡：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按组件CPU卸载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主存建议128GB+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预留模型与缓存空间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714375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消费级显卡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24—32GB：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INT8＋分组CPU卸载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主存建议128GB以上；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传输开销可能显著变慢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</ns1:tr>
              <ns1:tr h="714375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课堂试跑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960×544 / 约5秒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检查音画同步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固定任务与种子；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记录耗时、峰值显存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pic>
        <ns0:nvPicPr>
          <ns0:cNvPr id="8" name="图片 7"/>
          <ns0:cNvPicPr>
            <ns1:picLocks noChangeAspect="1"/>
          </ns0:cNvPicPr>
          <ns0:nvPr/>
        </ns0:nvPicPr>
        <ns0:blipFill>
          <ns1:blip ns2:embed="rId3"/>
          <ns1:srcRect l="23000" t="4000" r="20000" b="10000"/>
          <ns1:stretch>
            <ns1:fillRect/>
          </ns1:stretch>
        </ns0:blipFill>
        <ns0:spPr>
          <ns1:xfrm>
            <ns1:off x="7669766" y="1638300"/>
            <ns1:ext cx="3748567" cy="3181350"/>
          </ns1:xfrm>
          <ns1:prstGeom prst="rect">
            <ns1:avLst/>
          </ns1:prstGeom>
        </ns0:spPr>
      </ns0:pic>
      <ns0:sp>
        <ns0:nvSpPr>
          <ns0:cNvPr id="9" name="body"/>
          <ns0:cNvSpPr>
            <ns1:spLocks noGrp="1"/>
          </ns0:cNvSpPr>
          <ns0:nvPr/>
        </ns0:nvSpPr>
        <ns0:spPr>
          <ns1:xfrm>
            <ns1:off x="609600" y="4857750"/>
            <ns1:ext cx="107632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为什么24GB也不等于“轻量”？</ns1:t>
            </ns1:r>
            <ns1:endParaRPr sz="21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0" name="body"/>
          <ns0:cNvSpPr>
            <ns1:spLocks noGrp="1"/>
          </ns0:cNvSpPr>
          <ns0:nvPr/>
        </ns0:nvSpPr>
        <ns0:spPr>
          <ns1:xfrm>
            <ns1:off x="609600" y="5353050"/>
            <ns1:ext cx="1097280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官方文档：BF16下，Transformer约61.7GB，条件编码器另约62.1GB。</ns1:t>
            </ns1:r>
            <ns1:endParaRPr sz="17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7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低显存方案依赖量化与CPU卸载；完整2K流程还涉及云端模块。使用前核对模型社区许可。</ns1:t>
            </ns1:r>
            <ns1:endParaRPr sz="17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</ns0:spTree>
  </ns0:cSld>
  <ns0:clrMapOvr>
    <ns1:masterClrMapping/>
  </ns0:clrMapOvr>
</ns0:sld>
</file>

<file path=ppt/slides/slide5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9" name="图片 8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3239" y="0"/>
            <ns1:ext cx="12185522" cy="6858000"/>
          </ns1:xfrm>
          <ns1:prstGeom prst="rect">
            <ns1:avLst/>
          </ns1:prstGeom>
        </ns0:spPr>
      </ns0:pic>
      <ns0:sp>
        <ns0:nvSpPr>
          <ns0:cNvPr id="2" name="layout"/>
          <ns0:cNvSpPr>
            <ns1:spLocks noGrp="1"/>
          </ns0:cNvSpPr>
          <ns0:nvPr/>
        </ns0:nvSpPr>
        <ns0:spPr>
          <ns1:xfrm>
            <ns1:off x="609600" y="476250"/>
            <ns1:ext cx="76200" cy="342900"/>
          </ns1:xfrm>
          <ns1:prstGeom prst="rect">
            <ns1:avLst/>
          </ns1:prstGeom>
          <ns1:solidFill>
            <ns1:srgbClr val="18A999"/>
          </ns1:solidFill>
          <ns1:ln w="0">
            <ns1:noFill/>
            <ns1:prstDash val="solid"/>
          </ns1:ln>
        </ns0:spPr>
      </ns0:sp>
      <ns0:sp>
        <ns0:nvSpPr>
          <ns0:cNvPr id="3" name="slide-title"/>
          <ns0:cNvSpPr>
            <ns1:spLocks noGrp="1"/>
          </ns0:cNvSpPr>
          <ns0:nvPr/>
        </ns0:nvSpPr>
        <ns0:spPr>
          <ns1:xfrm>
            <ns1:off x="819150" y="400050"/>
            <ns1:ext cx="10668000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本地配置记录表：照着填，再决定是否升级</ns1:t>
            </ns1:r>
            <ns1:endParaRPr sz="3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4" name="body"/>
          <ns0:cNvSpPr>
            <ns1:spLocks noGrp="1"/>
          </ns0:cNvSpPr>
          <ns0:nvPr/>
        </ns0:nvSpPr>
        <ns0:spPr>
          <ns1:xfrm>
            <ns1:off x="819150" y="1057275"/>
            <ns1:ext cx="106203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示例先填一台电脑、一款模型、一个任务；完整记录可直接交给IT或供应商核对</ns1:t>
            </ns1:r>
            <ns1:endParaRPr sz="15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pic>
        <ns0:nvPicPr>
          <ns0:cNvPr id="5" name="hetu-footer-logo"/>
          <ns0:cNvPicPr>
            <ns1:picLocks noChangeAspect="1"/>
          </ns0:cNvPicPr>
          <ns0:nvPr/>
        </ns0:nvPicPr>
        <ns0:blipFill>
          <ns1:blip ns2:embed="rId2"/>
          <ns1:srcRect l="6458" t="22500" r="6510" b="22407"/>
          <ns1:stretch>
            <ns1:fillRect/>
          </ns1:stretch>
        </ns0:blipFill>
        <ns0:spPr>
          <ns1:xfrm>
            <ns1:off x="609600" y="6324600"/>
            <ns1:ext cx="914400" cy="323850"/>
          </ns1:xfrm>
          <ns1:prstGeom prst="rect">
            <ns1:avLst/>
          </ns1:prstGeom>
        </ns0:spPr>
      </ns0:pic>
      <ns0:sp>
        <ns0:nvSpPr>
          <ns0:cNvPr id="6" name="hetu-footer-folio"/>
          <ns0:cNvSpPr>
            <ns1:spLocks noGrp="1"/>
          </ns0:cNvSpPr>
          <ns0:nvPr/>
        </ns0:nvSpPr>
        <ns0:spPr>
          <ns1:xfrm>
            <ns1:off x="10629900" y="6419850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6 / 11</ns1:t>
            </ns1:r>
            <ns1:endParaRPr sz="10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graphicFrame>
        <ns0:nvGraphicFramePr>
          <ns0:cNvPr id="7" name="表格 6"/>
          <ns0:cNvGraphicFramePr/>
          <ns0:nvPr/>
        </ns0:nvGraphicFramePr>
        <ns0:xfrm>
          <ns1:off x="609600" y="1571625"/>
          <ns1:ext cx="10972800" cy="4295775"/>
        </ns0:xfrm>
        <ns1:graphic>
          <ns1:graphicData uri="http://schemas.openxmlformats.org/drawingml/2006/table">
            <ns1:tbl>
              <ns1:tblPr/>
              <ns1:tblGrid>
                <ns1:gridCol w="1828800"/>
                <ns1:gridCol w="5905500"/>
                <ns1:gridCol w="3238500"/>
              </ns1:tblGrid>
              <ns1:tr h="613682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记录项</ns1:t>
                      </ns1:r>
                      <ns1:endParaRPr sz="17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示例 / 填写方式</ns1:t>
                      </ns1:r>
                      <ns1:endParaRPr sz="17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你的配置</ns1:t>
                      </ns1:r>
                      <ns1:endParaRPr sz="17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</ns1:tr>
              <ns1:tr h="613682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使用任务</ns1:t>
                      </ns1:r>
                      <ns1:endParaRPr sz="170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200字材料→3点摘要；单人使用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________________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13682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模型与量化</ns1:t>
                      </ns1:r>
                      <ns1:endParaRPr sz="170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Qwen3.5-4B / Q4_K_M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记录模型标签、下载日期与摘要值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________________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</ns1:tr>
              <ns1:tr h="613682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硬件</ns1:t>
                      </ns1:r>
                      <ns1:endParaRPr sz="170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CPU型号；系统内存；独显型号/显存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Mac填写芯片与统一内存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________________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13682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运行环境</ns1:t>
                      </ns1:r>
                      <ns1:endParaRPr sz="170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系统、驱动、Ollama或其他框架版本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上下文先设约8K；并发1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________________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</ns1:tr>
              <ns1:tr h="613682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实测结果</ns1:t>
                      </ns1:r>
                      <ns1:endParaRPr sz="170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首字等待、输出速度、峰值资源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事实遗漏/编造；能否重复得到可用结果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________________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13682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升级条件</ns1:t>
                      </ns1:r>
                      <ns1:endParaRPr sz="170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先缩短上下文、减少并发；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任务仍失败再换模型或增加硬件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________________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body"/>
          <ns0:cNvSpPr>
            <ns1:spLocks noGrp="1"/>
          </ns0:cNvSpPr>
          <ns0:nvPr/>
        </ns0:nvSpPr>
        <ns0:spPr>
          <ns1:xfrm>
            <ns1:off x="609600" y="5962650"/>
            <ns1:ext cx="10972800" cy="2762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4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4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4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4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4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4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4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4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4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4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4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4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下载成功不等于可用。让同一份真实任务通过，再扩大材料长度和使用人数。</ns1:t>
            </ns1:r>
            <ns1:endParaRPr sz="14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</ns0:spTree>
  </ns0:cSld>
  <ns0:clrMapOvr>
    <ns1:masterClrMapping/>
  </ns0:clrMapOvr>
</ns0:sld>
</file>

<file path=ppt/slides/slide5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24" name="图片 23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3239" y="0"/>
            <ns1:ext cx="12185522" cy="6858000"/>
          </ns1:xfrm>
          <ns1:prstGeom prst="rect">
            <ns1:avLst/>
          </ns1:prstGeom>
        </ns0:spPr>
      </ns0:pic>
      <ns0:sp>
        <ns0:nvSpPr>
          <ns0:cNvPr id="2" name="layout"/>
          <ns0:cNvSpPr>
            <ns1:spLocks noGrp="1"/>
          </ns0:cNvSpPr>
          <ns0:nvPr/>
        </ns0:nvSpPr>
        <ns0:spPr>
          <ns1:xfrm>
            <ns1:off x="609600" y="476250"/>
            <ns1:ext cx="76200" cy="342900"/>
          </ns1:xfrm>
          <ns1:prstGeom prst="rect">
            <ns1:avLst/>
          </ns1:prstGeom>
          <ns1:solidFill>
            <ns1:srgbClr val="18A999"/>
          </ns1:solidFill>
          <ns1:ln w="0">
            <ns1:noFill/>
            <ns1:prstDash val="solid"/>
          </ns1:ln>
        </ns0:spPr>
      </ns0:sp>
      <ns0:sp>
        <ns0:nvSpPr>
          <ns0:cNvPr id="3" name="slide-title"/>
          <ns0:cNvSpPr>
            <ns1:spLocks noGrp="1"/>
          </ns0:cNvSpPr>
          <ns0:nvPr/>
        </ns0:nvSpPr>
        <ns0:spPr>
          <ns1:xfrm>
            <ns1:off x="819150" y="400050"/>
            <ns1:ext cx="10668000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今天DeepSeek的局限性：强能力仍有边界</ns1:t>
            </ns1:r>
            <ns1:endParaRPr sz="3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4" name="body"/>
          <ns0:cNvSpPr>
            <ns1:spLocks noGrp="1"/>
          </ns0:cNvSpPr>
          <ns0:nvPr/>
        </ns0:nvSpPr>
        <ns0:spPr>
          <ns1:xfrm>
            <ns1:off x="819150" y="1057275"/>
            <ns1:ext cx="106203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以2026-10-18的API说明、最新权重资料和真实演示为依据</ns1:t>
            </ns1:r>
            <ns1:endParaRPr sz="15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pic>
        <ns0:nvPicPr>
          <ns0:cNvPr id="5" name="hetu-footer-logo"/>
          <ns0:cNvPicPr>
            <ns1:picLocks noChangeAspect="1"/>
          </ns0:cNvPicPr>
          <ns0:nvPr/>
        </ns0:nvPicPr>
        <ns0:blipFill>
          <ns1:blip ns2:embed="rId2"/>
          <ns1:srcRect l="6458" t="22500" r="6510" b="22407"/>
          <ns1:stretch>
            <ns1:fillRect/>
          </ns1:stretch>
        </ns0:blipFill>
        <ns0:spPr>
          <ns1:xfrm>
            <ns1:off x="609600" y="6324600"/>
            <ns1:ext cx="914400" cy="323850"/>
          </ns1:xfrm>
          <ns1:prstGeom prst="rect">
            <ns1:avLst/>
          </ns1:prstGeom>
        </ns0:spPr>
      </ns0:pic>
      <ns0:sp>
        <ns0:nvSpPr>
          <ns0:cNvPr id="6" name="hetu-footer-folio"/>
          <ns0:cNvSpPr>
            <ns1:spLocks noGrp="1"/>
          </ns0:cNvSpPr>
          <ns0:nvPr/>
        </ns0:nvSpPr>
        <ns0:spPr>
          <ns1:xfrm>
            <ns1:off x="10629900" y="6419850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7 / 11</ns1:t>
            </ns1:r>
            <ns1:endParaRPr sz="10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7" name="body"/>
          <ns0:cNvSpPr>
            <ns1:spLocks noGrp="1"/>
          </ns0:cNvSpPr>
          <ns0:nvPr/>
        </ns0:nvSpPr>
        <ns0:spPr>
          <ns1:xfrm>
            <ns1:off x="609600" y="1581150"/>
            <ns1:ext cx="166687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输出形态</ns1:t>
            </ns1:r>
            <ns1:endParaRPr sz="18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8" name="body"/>
          <ns0:cNvSpPr>
            <ns1:spLocks noGrp="1"/>
          </ns0:cNvSpPr>
          <ns0:nvPr/>
        </ns0:nvSpPr>
        <ns0:spPr>
          <ns1:xfrm>
            <ns1:off x="2390775" y="1581150"/>
            <ns1:ext cx="9191625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当前Flash支持图文输入、文本输出；不能把它直接等同于音视频生成器。</ns1:t>
            </ns1:r>
            <ns1:endParaRPr sz="19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9" name="layout"/>
          <ns0:cNvSpPr>
            <ns1:spLocks noGrp="1"/>
          </ns0:cNvSpPr>
          <ns0:nvPr/>
        </ns0:nvSpPr>
        <ns0:spPr>
          <ns1:xfrm>
            <ns1:off x="2390775" y="2200275"/>
            <ns1:ext cx="9191625" cy="14288"/>
          </ns1:xfrm>
          <ns1:prstGeom prst="rect">
            <ns1:avLst/>
          </ns1:prstGeom>
          <ns1:solidFill>
            <ns1:srgbClr val="A9D9C7"/>
          </ns1:solidFill>
          <ns1:ln w="0">
            <ns1:noFill/>
            <ns1:prstDash val="solid"/>
          </ns1:ln>
        </ns0:spPr>
      </ns0:sp>
      <ns0:sp>
        <ns0:nvSpPr>
          <ns0:cNvPr id="10" name="body"/>
          <ns0:cNvSpPr>
            <ns1:spLocks noGrp="1"/>
          </ns0:cNvSpPr>
          <ns0:nvPr/>
        </ns0:nvSpPr>
        <ns0:spPr>
          <ns1:xfrm>
            <ns1:off x="609600" y="2324100"/>
            <ns1:ext cx="166687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事实与引用</ns1:t>
            </ns1:r>
            <ns1:endParaRPr sz="18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1" name="body"/>
          <ns0:cNvSpPr>
            <ns1:spLocks noGrp="1"/>
          </ns0:cNvSpPr>
          <ns0:nvPr/>
        </ns0:nvSpPr>
        <ns0:spPr>
          <ns1:xfrm>
            <ns1:off x="2390775" y="2324100"/>
            <ns1:ext cx="9191625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会生成错误或无法核对的结论；要求来源、定位原文，重要数字和条款需复核。</ns1:t>
            </ns1:r>
            <ns1:endParaRPr sz="19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2" name="layout"/>
          <ns0:cNvSpPr>
            <ns1:spLocks noGrp="1"/>
          </ns0:cNvSpPr>
          <ns0:nvPr/>
        </ns0:nvSpPr>
        <ns0:spPr>
          <ns1:xfrm>
            <ns1:off x="2390775" y="2943225"/>
            <ns1:ext cx="9191625" cy="14288"/>
          </ns1:xfrm>
          <ns1:prstGeom prst="rect">
            <ns1:avLst/>
          </ns1:prstGeom>
          <ns1:solidFill>
            <ns1:srgbClr val="A9D9C7"/>
          </ns1:solidFill>
          <ns1:ln w="0">
            <ns1:noFill/>
            <ns1:prstDash val="solid"/>
          </ns1:ln>
        </ns0:spPr>
      </ns0:sp>
      <ns0:sp>
        <ns0:nvSpPr>
          <ns0:cNvPr id="13" name="body"/>
          <ns0:cNvSpPr>
            <ns1:spLocks noGrp="1"/>
          </ns0:cNvSpPr>
          <ns0:nvPr/>
        </ns0:nvSpPr>
        <ns0:spPr>
          <ns1:xfrm>
            <ns1:off x="609600" y="3067050"/>
            <ns1:ext cx="166687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资料读取</ns1:t>
            </ns1:r>
            <ns1:endParaRPr sz="18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4" name="body"/>
          <ns0:cNvSpPr>
            <ns1:spLocks noGrp="1"/>
          </ns0:cNvSpPr>
          <ns0:nvPr/>
        </ns0:nvSpPr>
        <ns0:spPr>
          <ns1:xfrm>
            <ns1:off x="2390775" y="3067050"/>
            <ns1:ext cx="9191625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搜索到摘要不代表读过全文。本次论文演示明确只获取摘要，不能据此总结全文实验。</ns1:t>
            </ns1:r>
            <ns1:endParaRPr sz="19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5" name="layout"/>
          <ns0:cNvSpPr>
            <ns1:spLocks noGrp="1"/>
          </ns0:cNvSpPr>
          <ns0:nvPr/>
        </ns0:nvSpPr>
        <ns0:spPr>
          <ns1:xfrm>
            <ns1:off x="2390775" y="3686175"/>
            <ns1:ext cx="9191625" cy="14288"/>
          </ns1:xfrm>
          <ns1:prstGeom prst="rect">
            <ns1:avLst/>
          </ns1:prstGeom>
          <ns1:solidFill>
            <ns1:srgbClr val="A9D9C7"/>
          </ns1:solidFill>
          <ns1:ln w="0">
            <ns1:noFill/>
            <ns1:prstDash val="solid"/>
          </ns1:ln>
        </ns0:spPr>
      </ns0:sp>
      <ns0:sp>
        <ns0:nvSpPr>
          <ns0:cNvPr id="16" name="body"/>
          <ns0:cNvSpPr>
            <ns1:spLocks noGrp="1"/>
          </ns0:cNvSpPr>
          <ns0:nvPr/>
        </ns0:nvSpPr>
        <ns0:spPr>
          <ns1:xfrm>
            <ns1:off x="609600" y="3810000"/>
            <ns1:ext cx="166687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长文本质量</ns1:t>
            </ns1:r>
            <ns1:endParaRPr sz="18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7" name="body"/>
          <ns0:cNvSpPr>
            <ns1:spLocks noGrp="1"/>
          </ns0:cNvSpPr>
          <ns0:nvPr/>
        </ns0:nvSpPr>
        <ns0:spPr>
          <ns1:xfrm>
            <ns1:off x="2390775" y="3810000"/>
            <ns1:ext cx="9191625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1M表示输入容量，不能保证每处细节都准确。长材料仍需抽查，并与原文交叉核对。</ns1:t>
            </ns1:r>
            <ns1:endParaRPr sz="19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8" name="layout"/>
          <ns0:cNvSpPr>
            <ns1:spLocks noGrp="1"/>
          </ns0:cNvSpPr>
          <ns0:nvPr/>
        </ns0:nvSpPr>
        <ns0:spPr>
          <ns1:xfrm>
            <ns1:off x="2390775" y="4429125"/>
            <ns1:ext cx="9191625" cy="14288"/>
          </ns1:xfrm>
          <ns1:prstGeom prst="rect">
            <ns1:avLst/>
          </ns1:prstGeom>
          <ns1:solidFill>
            <ns1:srgbClr val="A9D9C7"/>
          </ns1:solidFill>
          <ns1:ln w="0">
            <ns1:noFill/>
            <ns1:prstDash val="solid"/>
          </ns1:ln>
        </ns0:spPr>
      </ns0:sp>
      <ns0:sp>
        <ns0:nvSpPr>
          <ns0:cNvPr id="19" name="body"/>
          <ns0:cNvSpPr>
            <ns1:spLocks noGrp="1"/>
          </ns0:cNvSpPr>
          <ns0:nvPr/>
        </ns0:nvSpPr>
        <ns0:spPr>
          <ns1:xfrm>
            <ns1:off x="609600" y="4552950"/>
            <ns1:ext cx="166687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成本与时延</ns1:t>
            </ns1:r>
            <ns1:endParaRPr sz="18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20" name="body"/>
          <ns0:cNvSpPr>
            <ns1:spLocks noGrp="1"/>
          </ns0:cNvSpPr>
          <ns0:nvPr/>
        </ns0:nvSpPr>
        <ns0:spPr>
          <ns1:xfrm>
            <ns1:off x="2390775" y="4552950"/>
            <ns1:ext cx="9191625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深度推理会增加输出与等待；便宜的单价不能直接等同于完成一项任务更便宜。</ns1:t>
            </ns1:r>
            <ns1:endParaRPr sz="19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21" name="layout"/>
          <ns0:cNvSpPr>
            <ns1:spLocks noGrp="1"/>
          </ns0:cNvSpPr>
          <ns0:nvPr/>
        </ns0:nvSpPr>
        <ns0:spPr>
          <ns1:xfrm>
            <ns1:off x="2390775" y="5172075"/>
            <ns1:ext cx="9191625" cy="14288"/>
          </ns1:xfrm>
          <ns1:prstGeom prst="rect">
            <ns1:avLst/>
          </ns1:prstGeom>
          <ns1:solidFill>
            <ns1:srgbClr val="A9D9C7"/>
          </ns1:solidFill>
          <ns1:ln w="0">
            <ns1:noFill/>
            <ns1:prstDash val="solid"/>
          </ns1:ln>
        </ns0:spPr>
      </ns0:sp>
      <ns0:sp>
        <ns0:nvSpPr>
          <ns0:cNvPr id="22" name="body"/>
          <ns0:cNvSpPr>
            <ns1:spLocks noGrp="1"/>
          </ns0:cNvSpPr>
          <ns0:nvPr/>
        </ns0:nvSpPr>
        <ns0:spPr>
          <ns1:xfrm>
            <ns1:off x="609600" y="5295900"/>
            <ns1:ext cx="166687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本地适配</ns1:t>
            </ns1:r>
            <ns1:endParaRPr sz="18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23" name="body"/>
          <ns0:cNvSpPr>
            <ns1:spLocks noGrp="1"/>
          </ns0:cNvSpPr>
          <ns0:nvPr/>
        </ns0:nvSpPr>
        <ns0:spPr>
          <ns1:xfrm>
            <ns1:off x="2390775" y="5295900"/>
            <ns1:ext cx="9191625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最新权重与推理框架可能存在兼容差异；显存、并发与上下文必须联合测试。</ns1:t>
            </ns1:r>
            <ns1:endParaRPr sz="19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</ns0:spTree>
  </ns0:cSld>
  <ns0:clrMapOvr>
    <ns1:masterClrMapping/>
  </ns0:clrMapOvr>
</ns0:sld>
</file>

<file path=ppt/slides/slide5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13" name="图片 12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3239" y="0"/>
            <ns1:ext cx="12185522" cy="6858000"/>
          </ns1:xfrm>
          <ns1:prstGeom prst="rect">
            <ns1:avLst/>
          </ns1:prstGeom>
        </ns0:spPr>
      </ns0:pic>
      <ns0:sp>
        <ns0:nvSpPr>
          <ns0:cNvPr id="2" name="layout"/>
          <ns0:cNvSpPr>
            <ns1:spLocks noGrp="1"/>
          </ns0:cNvSpPr>
          <ns0:nvPr/>
        </ns0:nvSpPr>
        <ns0:spPr>
          <ns1:xfrm>
            <ns1:off x="609600" y="476250"/>
            <ns1:ext cx="76200" cy="342900"/>
          </ns1:xfrm>
          <ns1:prstGeom prst="rect">
            <ns1:avLst/>
          </ns1:prstGeom>
          <ns1:solidFill>
            <ns1:srgbClr val="18A999"/>
          </ns1:solidFill>
          <ns1:ln w="0">
            <ns1:noFill/>
            <ns1:prstDash val="solid"/>
          </ns1:ln>
        </ns0:spPr>
      </ns0:sp>
      <ns0:sp>
        <ns0:nvSpPr>
          <ns0:cNvPr id="3" name="slide-title"/>
          <ns0:cNvSpPr>
            <ns1:spLocks noGrp="1"/>
          </ns0:cNvSpPr>
          <ns0:nvPr/>
        </ns0:nvSpPr>
        <ns0:spPr>
          <ns1:xfrm>
            <ns1:off x="819150" y="400050"/>
            <ns1:ext cx="10668000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真实测评：看清版本、任务与运行条件</ns1:t>
            </ns1:r>
            <ns1:endParaRPr sz="3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4" name="body"/>
          <ns0:cNvSpPr>
            <ns1:spLocks noGrp="1"/>
          </ns0:cNvSpPr>
          <ns0:nvPr/>
        </ns0:nvSpPr>
        <ns0:spPr>
          <ns1:xfrm>
            <ns1:off x="819150" y="1057275"/>
            <ns1:ext cx="106203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第三方测评与工程实测各说明一件事；不能拼接成一个“通用正确率”或“绝对速度”</ns1:t>
            </ns1:r>
            <ns1:endParaRPr sz="15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pic>
        <ns0:nvPicPr>
          <ns0:cNvPr id="5" name="hetu-footer-logo"/>
          <ns0:cNvPicPr>
            <ns1:picLocks noChangeAspect="1"/>
          </ns0:cNvPicPr>
          <ns0:nvPr/>
        </ns0:nvPicPr>
        <ns0:blipFill>
          <ns1:blip ns2:embed="rId2"/>
          <ns1:srcRect l="6458" t="22500" r="6510" b="22407"/>
          <ns1:stretch>
            <ns1:fillRect/>
          </ns1:stretch>
        </ns0:blipFill>
        <ns0:spPr>
          <ns1:xfrm>
            <ns1:off x="609600" y="6324600"/>
            <ns1:ext cx="914400" cy="323850"/>
          </ns1:xfrm>
          <ns1:prstGeom prst="rect">
            <ns1:avLst/>
          </ns1:prstGeom>
        </ns0:spPr>
      </ns0:pic>
      <ns0:sp>
        <ns0:nvSpPr>
          <ns0:cNvPr id="6" name="hetu-footer-folio"/>
          <ns0:cNvSpPr>
            <ns1:spLocks noGrp="1"/>
          </ns0:cNvSpPr>
          <ns0:nvPr/>
        </ns0:nvSpPr>
        <ns0:spPr>
          <ns1:xfrm>
            <ns1:off x="10629900" y="6419850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8 / 11</ns1:t>
            </ns1:r>
            <ns1:endParaRPr sz="10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7" name="body"/>
          <ns0:cNvSpPr>
            <ns1:spLocks noGrp="1"/>
          </ns0:cNvSpPr>
          <ns0:nvPr/>
        </ns0:nvSpPr>
        <ns0:spPr>
          <ns1:xfrm>
            <ns1:off x="609600" y="1543050"/>
            <ns1:ext cx="51911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独立测评：输出长度会影响成本</ns1:t>
            </ns1:r>
            <ns1:endParaRPr sz="21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pic>
        <ns0:nvPicPr>
          <ns0:cNvPr id="8" name="图片 7"/>
          <ns0:cNvPicPr>
            <ns1:picLocks noChangeAspect="1"/>
          </ns0:cNvPicPr>
          <ns0:nvPr/>
        </ns0:nvPicPr>
        <ns0:blipFill>
          <ns1:blip ns2:embed="rId3"/>
          <ns1:srcRect t="17000" b="24000"/>
          <ns1:stretch>
            <ns1:fillRect/>
          </ns1:stretch>
        </ns0:blipFill>
        <ns0:spPr>
          <ns1:xfrm>
            <ns1:off x="609600" y="2253273"/>
            <ns1:ext cx="5191125" cy="1722805"/>
          </ns1:xfrm>
          <ns1:prstGeom prst="rect">
            <ns1:avLst/>
          </ns1:prstGeom>
        </ns0:spPr>
      </ns0:pic>
      <ns0:sp>
        <ns0:nvSpPr>
          <ns0:cNvPr id="9" name="body"/>
          <ns0:cNvSpPr>
            <ns1:spLocks noGrp="1"/>
          </ns0:cNvSpPr>
          <ns0:nvPr/>
        </ns0:nvSpPr>
        <ns0:spPr>
          <ns1:xfrm>
            <ns1:off x="609600" y="4495800"/>
            <ns1:ext cx="5191125" cy="1371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AA测试对象：9月V4.1-Flash（Max）。</ns1:t>
            </ns1:r>
            <ns1:endParaRPr sz="19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测试集输出250M token，中位数130M。</ns1:t>
            </ns1:r>
            <ns1:endParaRPr sz="19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1017官方称已缩短输出；</ns1:t>
            </ns1:r>
            <ns1:endParaRPr sz="19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新版本效果仍需独立复测。</ns1:t>
            </ns1:r>
            <ns1:endParaRPr sz="19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10" name="body"/>
          <ns0:cNvSpPr>
            <ns1:spLocks noGrp="1"/>
          </ns0:cNvSpPr>
          <ns0:nvPr/>
        </ns0:nvSpPr>
        <ns0:spPr>
          <ns1:xfrm>
            <ns1:off x="6381750" y="1543050"/>
            <ns1:ext cx="51911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1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部署实测：长上下文会改变吞吐</ns1:t>
            </ns1:r>
            <ns1:endParaRPr sz="21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graphicFrame>
        <ns0:nvGraphicFramePr>
          <ns0:cNvPr id="11" name="表格 10"/>
          <ns0:cNvGraphicFramePr/>
          <ns0:nvPr/>
        </ns0:nvGraphicFramePr>
        <ns0:xfrm>
          <ns1:off x="6381750" y="2085975"/>
          <ns1:ext cx="5191125" cy="1695450"/>
        </ns0:xfrm>
        <ns1:graphic>
          <ns1:graphicData uri="http://schemas.openxmlformats.org/drawingml/2006/table">
            <ns1:tbl>
              <ns1:tblPr/>
              <ns1:tblGrid>
                <ns1:gridCol w="2143125"/>
                <ns1:gridCol w="1524000"/>
                <ns1:gridCol w="1524000"/>
              </ns1:tblGrid>
              <ns1:tr h="847725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同一测试中</ns1:t>
                      </ns1:r>
                      <ns1:endParaRPr sz="17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262K窗口</ns1:t>
                      </ns1:r>
                      <ns1:endParaRPr sz="17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1M窗口</ns1:t>
                      </ns1:r>
                      <ns1:endParaRPr sz="17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</ns1:tr>
              <ns1:tr h="847725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16并发时，</ns1:t>
                      </ns1:r>
                      <ns1:endParaRPr sz="170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每请求输出速度</ns1:t>
                      </ns1:r>
                      <ns1:endParaRPr sz="170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189 token/s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75 token/s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12" name="body"/>
          <ns0:cNvSpPr>
            <ns1:spLocks noGrp="1"/>
          </ns0:cNvSpPr>
          <ns0:nvPr/>
        </ns0:nvSpPr>
        <ns0:spPr>
          <ns1:xfrm>
            <ns1:off x="6381750" y="4210050"/>
            <ns1:ext cx="5191125" cy="1771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HelixML在2026-10-07公布：</ns1:t>
            </ns1:r>
            <ns1:endParaRPr sz="18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8×H200、9月V4.1权重、特定SGLang</ns1:t>
            </ns1:r>
            <ns1:endParaRPr sz="18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调优环境；扩大窗口后需调整并发。</ns1:t>
            </ns1:r>
            <ns1:endParaRPr sz="18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endParaRPr sz="1800"/>
          </ns1:p>
          <ns1:p>
            <ns1: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这些是特定配置结果，不能当作</ns1:t>
            </ns1:r>
            <ns1:endParaRPr sz="18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  <ns1:p>
            <ns1:pPr algn="l">
              <ns1:def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8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最新1017版或普通电脑的速度承诺。</ns1:t>
            </ns1:r>
            <ns1:endParaRPr sz="18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</ns0:spTree>
  </ns0:cSld>
  <ns0:clrMapOvr>
    <ns1:masterClrMapping/>
  </ns0:clrMapOvr>
</ns0:sld>
</file>

<file path=ppt/slides/slide5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9" name="图片 8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3239" y="0"/>
            <ns1:ext cx="12185522" cy="6858000"/>
          </ns1:xfrm>
          <ns1:prstGeom prst="rect">
            <ns1:avLst/>
          </ns1:prstGeom>
        </ns0:spPr>
      </ns0:pic>
      <ns0:sp>
        <ns0:nvSpPr>
          <ns0:cNvPr id="2" name="layout"/>
          <ns0:cNvSpPr>
            <ns1:spLocks noGrp="1"/>
          </ns0:cNvSpPr>
          <ns0:nvPr/>
        </ns0:nvSpPr>
        <ns0:spPr>
          <ns1:xfrm>
            <ns1:off x="609600" y="476250"/>
            <ns1:ext cx="76200" cy="342900"/>
          </ns1:xfrm>
          <ns1:prstGeom prst="rect">
            <ns1:avLst/>
          </ns1:prstGeom>
          <ns1:solidFill>
            <ns1:srgbClr val="18A999"/>
          </ns1:solidFill>
          <ns1:ln w="0">
            <ns1:noFill/>
            <ns1:prstDash val="solid"/>
          </ns1:ln>
        </ns0:spPr>
      </ns0:sp>
      <ns0:sp>
        <ns0:nvSpPr>
          <ns0:cNvPr id="3" name="slide-title"/>
          <ns0:cNvSpPr>
            <ns1:spLocks noGrp="1"/>
          </ns0:cNvSpPr>
          <ns0:nvPr/>
        </ns0:nvSpPr>
        <ns0:spPr>
          <ns1:xfrm>
            <ns1:off x="819150" y="400050"/>
            <ns1:ext cx="10668000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AI工具列表：中文通用助手</ns1:t>
            </ns1:r>
            <ns1:endParaRPr sz="3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4" name="body"/>
          <ns0:cNvSpPr>
            <ns1:spLocks noGrp="1"/>
          </ns0:cNvSpPr>
          <ns0:nvPr/>
        </ns0:nvSpPr>
        <ns0:spPr>
          <ns1:xfrm>
            <ns1:off x="819150" y="1057275"/>
            <ns1:ext cx="106203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按中文课堂任务与当前入口重排｜序号不是综合性能榜；前三项顺序参考QuestMobile 2026年6月移动端规模</ns1:t>
            </ns1:r>
            <ns1:endParaRPr sz="15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pic>
        <ns0:nvPicPr>
          <ns0:cNvPr id="5" name="hetu-footer-logo"/>
          <ns0:cNvPicPr>
            <ns1:picLocks noChangeAspect="1"/>
          </ns0:cNvPicPr>
          <ns0:nvPr/>
        </ns0:nvPicPr>
        <ns0:blipFill>
          <ns1:blip ns2:embed="rId2"/>
          <ns1:srcRect l="6458" t="22500" r="6510" b="22407"/>
          <ns1:stretch>
            <ns1:fillRect/>
          </ns1:stretch>
        </ns0:blipFill>
        <ns0:spPr>
          <ns1:xfrm>
            <ns1:off x="609600" y="6324600"/>
            <ns1:ext cx="914400" cy="323850"/>
          </ns1:xfrm>
          <ns1:prstGeom prst="rect">
            <ns1:avLst/>
          </ns1:prstGeom>
        </ns0:spPr>
      </ns0:pic>
      <ns0:sp>
        <ns0:nvSpPr>
          <ns0:cNvPr id="6" name="hetu-footer-folio"/>
          <ns0:cNvSpPr>
            <ns1:spLocks noGrp="1"/>
          </ns0:cNvSpPr>
          <ns0:nvPr/>
        </ns0:nvSpPr>
        <ns0:spPr>
          <ns1:xfrm>
            <ns1:off x="10629900" y="6419850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9 / 11</ns1:t>
            </ns1:r>
            <ns1:endParaRPr sz="10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graphicFrame>
        <ns0:nvGraphicFramePr>
          <ns0:cNvPr id="7" name="表格 6"/>
          <ns0:cNvGraphicFramePr/>
          <ns0:nvPr/>
        </ns0:nvGraphicFramePr>
        <ns0:xfrm>
          <ns1:off x="609600" y="1552575"/>
          <ns1:ext cx="10972800" cy="4076703"/>
        </ns0:xfrm>
        <ns1:graphic>
          <ns1:graphicData uri="http://schemas.openxmlformats.org/drawingml/2006/table">
            <ns1:tbl>
              <ns1:tblPr/>
              <ns1:tblGrid>
                <ns1:gridCol w="571500"/>
                <ns1:gridCol w="2428875"/>
                <ns1:gridCol w="3143250"/>
                <ns1:gridCol w="2667000"/>
                <ns1:gridCol w="2162175"/>
              </ns1:tblGrid>
              <ns1:tr h="452967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3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序号</ns1:t>
                      </ns1:r>
                      <ns1:endParaRPr sz="163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3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工具 / 开发者</ns1:t>
                      </ns1:r>
                      <ns1:endParaRPr sz="163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3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优先尝试的任务</ns1:t>
                      </ns1:r>
                      <ns1:endParaRPr sz="163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3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当前入口</ns1:t>
                      </ns1:r>
                      <ns1:endParaRPr sz="163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3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权益提示</ns1:t>
                      </ns1:r>
                      <ns1:endParaRPr sz="163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</ns1:tr>
              <ns1:tr h="452967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1</ns1:t>
                      </ns1:r>
                      <ns1:endParaRPr sz="158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豆包 / 字节跳动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日常写作、改写、图文对话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doubao.com/chat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免费/付费权益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452967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2</ns1:t>
                      </ns1:r>
                      <ns1:endParaRPr sz="158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千问 / 阿里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文案整理、文件理解与写作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qianwen.com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按账号权益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</ns1:tr>
              <ns1:tr h="452967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3</ns1:t>
                      </ns1:r>
                      <ns1:endParaRPr sz="158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DeepSeek / 深度求索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推理、中文写作、代码辅助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chat.deepseek.com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APP/API分开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452967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4</ns1:t>
                      </ns1:r>
                      <ns1:endParaRPr sz="158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Kimi / 月之暗面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长资料阅读、文档修改与输出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kimi.com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模型权益分层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</ns1:tr>
              <ns1:tr h="452967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5</ns1:t>
                      </ns1:r>
                      <ns1:endParaRPr sz="158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腾讯元宝 / 腾讯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中文资料问答、搜索与写作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yuanbao.tencent.com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按账号额度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452967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6</ns1:t>
                      </ns1:r>
                      <ns1:endParaRPr sz="158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智谱清言 / 智谱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问答、写作与多模态辅助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chatglm.cn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按账号权益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</ns1:tr>
              <ns1:tr h="452967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7</ns1:t>
                      </ns1:r>
                      <ns1:endParaRPr sz="158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文心 / 百度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搜索、文案与中文内容辅助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yiyan.baidu.com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按当前权益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452967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8</ns1:t>
                      </ns1:r>
                      <ns1:endParaRPr sz="158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讯飞星火 / 科大讯飞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写作润色、文档摘要与阅读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xinghuo.xfyun.cn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58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套餐分别核对</ns1:t>
                      </ns1:r>
                      <ns1:endParaRPr sz="158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body"/>
          <ns0:cNvSpPr>
            <ns1:spLocks noGrp="1"/>
          </ns0:cNvSpPr>
          <ns0:nvPr/>
        </ns0:nvSpPr>
        <ns0:spPr>
          <ns1:xfrm>
            <ns1:off x="609600" y="5886450"/>
            <ns1:ext cx="10972800" cy="2762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用户规模反映使用热度，不能替代写作质量测评；后五项按课堂用途编排，未冒称同口径市场排名。</ns1:t>
            </ns1:r>
            <ns1:endParaRPr sz="125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</ns0:spTree>
  </ns0:cSld>
  <ns0:clrMapOvr>
    <ns1:masterClrMapping/>
  </ns0:clrMapOvr>
</ns0:sld>
</file>

<file path=ppt/slides/slide5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10" name="图片 9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3239" y="0"/>
            <ns1:ext cx="12185522" cy="6858000"/>
          </ns1:xfrm>
          <ns1:prstGeom prst="rect">
            <ns1:avLst/>
          </ns1:prstGeom>
        </ns0:spPr>
      </ns0:pic>
      <ns0:sp>
        <ns0:nvSpPr>
          <ns0:cNvPr id="2" name="layout"/>
          <ns0:cNvSpPr>
            <ns1:spLocks noGrp="1"/>
          </ns0:cNvSpPr>
          <ns0:nvPr/>
        </ns0:nvSpPr>
        <ns0:spPr>
          <ns1:xfrm>
            <ns1:off x="609600" y="476250"/>
            <ns1:ext cx="76200" cy="342900"/>
          </ns1:xfrm>
          <ns1:prstGeom prst="rect">
            <ns1:avLst/>
          </ns1:prstGeom>
          <ns1:solidFill>
            <ns1:srgbClr val="18A999"/>
          </ns1:solidFill>
          <ns1:ln w="0">
            <ns1:noFill/>
            <ns1:prstDash val="solid"/>
          </ns1:ln>
        </ns0:spPr>
      </ns0:sp>
      <ns0:sp>
        <ns0:nvSpPr>
          <ns0:cNvPr id="3" name="slide-title"/>
          <ns0:cNvSpPr>
            <ns1:spLocks noGrp="1"/>
          </ns0:cNvSpPr>
          <ns0:nvPr/>
        </ns0:nvSpPr>
        <ns0:spPr>
          <ns1:xfrm>
            <ns1:off x="819150" y="400050"/>
            <ns1:ext cx="10668000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AI工具列表：国际通用写作与资料处理</ns1:t>
            </ns1:r>
            <ns1:endParaRPr sz="3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4" name="body"/>
          <ns0:cNvSpPr>
            <ns1:spLocks noGrp="1"/>
          </ns0:cNvSpPr>
          <ns0:nvPr/>
        </ns0:nvSpPr>
        <ns0:spPr>
          <ns1:xfrm>
            <ns1:off x="819150" y="1057275"/>
            <ns1:ext cx="106203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写作与资料处理对照｜先用同一份材料测试，再按交付需求选择</ns1:t>
            </ns1:r>
            <ns1:endParaRPr sz="15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pic>
        <ns0:nvPicPr>
          <ns0:cNvPr id="5" name="hetu-footer-logo"/>
          <ns0:cNvPicPr>
            <ns1:picLocks noChangeAspect="1"/>
          </ns0:cNvPicPr>
          <ns0:nvPr/>
        </ns0:nvPicPr>
        <ns0:blipFill>
          <ns1:blip ns2:embed="rId2"/>
          <ns1:srcRect l="6458" t="22500" r="6510" b="22407"/>
          <ns1:stretch>
            <ns1:fillRect/>
          </ns1:stretch>
        </ns0:blipFill>
        <ns0:spPr>
          <ns1:xfrm>
            <ns1:off x="609600" y="6324600"/>
            <ns1:ext cx="914400" cy="323850"/>
          </ns1:xfrm>
          <ns1:prstGeom prst="rect">
            <ns1:avLst/>
          </ns1:prstGeom>
        </ns0:spPr>
      </ns0:pic>
      <ns0:sp>
        <ns0:nvSpPr>
          <ns0:cNvPr id="6" name="hetu-footer-folio"/>
          <ns0:cNvSpPr>
            <ns1:spLocks noGrp="1"/>
          </ns0:cNvSpPr>
          <ns0:nvPr/>
        </ns0:nvSpPr>
        <ns0:spPr>
          <ns1:xfrm>
            <ns1:off x="10629900" y="6419850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10 / 11</ns1:t>
            </ns1:r>
            <ns1:endParaRPr sz="10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graphicFrame>
        <ns0:nvGraphicFramePr>
          <ns0:cNvPr id="7" name="表格 6"/>
          <ns0:cNvGraphicFramePr/>
          <ns0:nvPr/>
        </ns0:nvGraphicFramePr>
        <ns0:xfrm>
          <ns1:off x="609600" y="1685925"/>
          <ns1:ext cx="10972800" cy="3276600"/>
        </ns0:xfrm>
        <ns1:graphic>
          <ns1:graphicData uri="http://schemas.openxmlformats.org/drawingml/2006/table">
            <ns1:tbl>
              <ns1:tblPr/>
              <ns1:tblGrid>
                <ns1:gridCol w="2190750"/>
                <ns1:gridCol w="3619500"/>
                <ns1:gridCol w="2762250"/>
                <ns1:gridCol w="2400300"/>
              </ns1:tblGrid>
              <ns1:tr h="819150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工具 / 开发者</ns1:t>
                      </ns1:r>
                      <ns1:endParaRPr sz="18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优先任务</ns1:t>
                      </ns1:r>
                      <ns1:endParaRPr sz="18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当前入口</ns1:t>
                      </ns1:r>
                      <ns1:endParaRPr sz="18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使用条件</ns1:t>
                      </ns1:r>
                      <ns1:endParaRPr sz="18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</ns1:tr>
              <ns1:tr h="819150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ChatGPT / OpenAI</ns1:t>
                      </ns1:r>
                      <ns1:endParaRPr sz="180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总结、比较与改写文档；</ns1:t>
                      </ns1:r>
                      <ns1:endParaRPr sz="18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分析文件、表格和图片</ns1:t>
                      </ns1:r>
                      <ns1:endParaRPr sz="18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chatgpt.com</ns1:t>
                      </ns1:r>
                      <ns1:endParaRPr sz="18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免费与付费分层</ns1:t>
                      </ns1:r>
                      <ns1:endParaRPr sz="18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核对地区和账号</ns1:t>
                      </ns1:r>
                      <ns1:endParaRPr sz="18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819150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Claude / Anthropic</ns1:t>
                      </ns1:r>
                      <ns1:endParaRPr sz="180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长材料阅读与写作；</ns1:t>
                      </ns1:r>
                      <ns1:endParaRPr sz="18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编辑文档并生成可下载文件</ns1:t>
                      </ns1:r>
                      <ns1:endParaRPr sz="18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claude.ai</ns1:t>
                      </ns1:r>
                      <ns1:endParaRPr sz="18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免费与付费分层</ns1:t>
                      </ns1:r>
                      <ns1:endParaRPr sz="18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核对地区和账号</ns1:t>
                      </ns1:r>
                      <ns1:endParaRPr sz="18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</ns1:tr>
              <ns1:tr h="819150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Gemini / Google</ns1:t>
                      </ns1:r>
                      <ns1:endParaRPr sz="180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资料总结、改写与创意写作；</ns1:t>
                      </ns1:r>
                      <ns1:endParaRPr sz="18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Canvas中编辑文稿和网页</ns1:t>
                      </ns1:r>
                      <ns1:endParaRPr sz="18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gemini.google.com</ns1:t>
                      </ns1:r>
                      <ns1:endParaRPr sz="18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免费与订阅分层</ns1:t>
                      </ns1:r>
                      <ns1:endParaRPr sz="18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8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核对地区和账号</ns1:t>
                      </ns1:r>
                      <ns1:endParaRPr sz="18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body"/>
          <ns0:cNvSpPr>
            <ns1:spLocks noGrp="1"/>
          </ns0:cNvSpPr>
          <ns0:nvPr/>
        </ns0:nvSpPr>
        <ns0:spPr>
          <ns1:xfrm>
            <ns1:off x="609600" y="5305425"/>
            <ns1:ext cx="107632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2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22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22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22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22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22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22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22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22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22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22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2200" b="1">
                <ns1:solidFill>
                  <ns1:srgbClr val="18A999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课堂比较方法</ns1:t>
            </ns1:r>
            <ns1:endParaRPr sz="2200" b="1">
              <ns1:solidFill>
                <ns1:srgbClr val="18A999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9" name="body"/>
          <ns0:cNvSpPr>
            <ns1:spLocks noGrp="1"/>
          </ns0:cNvSpPr>
          <ns0:nvPr/>
        </ns0:nvSpPr>
        <ns0:spPr>
          <ns1:xfrm>
            <ns1:off x="609600" y="5781675"/>
            <ns1:ext cx="1097280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9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给三款工具同一份材料、同一要求；比较事实完整度、结构、语气和可编辑交付。</ns1:t>
            </ns1:r>
            <ns1:endParaRPr sz="19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</ns0:spTree>
  </ns0:cSld>
  <ns0:clrMapOvr>
    <ns1:masterClrMapping/>
  </ns0:clrMapOvr>
</ns0:sld>
</file>

<file path=ppt/slides/slide5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9" name="图片 8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3239" y="0"/>
            <ns1:ext cx="12185522" cy="6858000"/>
          </ns1:xfrm>
          <ns1:prstGeom prst="rect">
            <ns1:avLst/>
          </ns1:prstGeom>
        </ns0:spPr>
      </ns0:pic>
      <ns0:sp>
        <ns0:nvSpPr>
          <ns0:cNvPr id="2" name="layout"/>
          <ns0:cNvSpPr>
            <ns1:spLocks noGrp="1"/>
          </ns0:cNvSpPr>
          <ns0:nvPr/>
        </ns0:nvSpPr>
        <ns0:spPr>
          <ns1:xfrm>
            <ns1:off x="609600" y="476250"/>
            <ns1:ext cx="76200" cy="342900"/>
          </ns1:xfrm>
          <ns1:prstGeom prst="rect">
            <ns1:avLst/>
          </ns1:prstGeom>
          <ns1:solidFill>
            <ns1:srgbClr val="18A999"/>
          </ns1:solidFill>
          <ns1:ln w="0">
            <ns1:noFill/>
            <ns1:prstDash val="solid"/>
          </ns1:ln>
        </ns0:spPr>
      </ns0:sp>
      <ns0:sp>
        <ns0:nvSpPr>
          <ns0:cNvPr id="3" name="slide-title"/>
          <ns0:cNvSpPr>
            <ns1:spLocks noGrp="1"/>
          </ns0:cNvSpPr>
          <ns0:nvPr/>
        </ns0:nvSpPr>
        <ns0:spPr>
          <ns1:xfrm>
            <ns1:off x="819150" y="400050"/>
            <ns1:ext cx="10668000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3000" b="1">
                <ns1:solidFill>
                  <ns1:srgbClr val="123B5D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AI工具列表：专题写作、音乐与配音</ns1:t>
            </ns1:r>
            <ns1:endParaRPr sz="3000" b="1">
              <ns1:solidFill>
                <ns1:srgbClr val="123B5D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sp>
        <ns0:nvSpPr>
          <ns0:cNvPr id="4" name="body"/>
          <ns0:cNvSpPr>
            <ns1:spLocks noGrp="1"/>
          </ns0:cNvSpPr>
          <ns0:nvPr/>
        </ns0:nvSpPr>
        <ns0:spPr>
          <ns1:xfrm>
            <ns1:off x="819150" y="1057275"/>
            <ns1:ext cx="106203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5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小说、公文、音乐与配音｜先看任务，再看入口、额度与交付方式</ns1:t>
            </ns1:r>
            <ns1:endParaRPr sz="15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pic>
        <ns0:nvPicPr>
          <ns0:cNvPr id="5" name="hetu-footer-logo"/>
          <ns0:cNvPicPr>
            <ns1:picLocks noChangeAspect="1"/>
          </ns0:cNvPicPr>
          <ns0:nvPr/>
        </ns0:nvPicPr>
        <ns0:blipFill>
          <ns1:blip ns2:embed="rId2"/>
          <ns1:srcRect l="6458" t="22500" r="6510" b="22407"/>
          <ns1:stretch>
            <ns1:fillRect/>
          </ns1:stretch>
        </ns0:blipFill>
        <ns0:spPr>
          <ns1:xfrm>
            <ns1:off x="609600" y="6324600"/>
            <ns1:ext cx="914400" cy="323850"/>
          </ns1:xfrm>
          <ns1:prstGeom prst="rect">
            <ns1:avLst/>
          </ns1:prstGeom>
        </ns0:spPr>
      </ns0:pic>
      <ns0:sp>
        <ns0:nvSpPr>
          <ns0:cNvPr id="6" name="hetu-footer-folio"/>
          <ns0:cNvSpPr>
            <ns1:spLocks noGrp="1"/>
          </ns0:cNvSpPr>
          <ns0:nvPr/>
        </ns0:nvSpPr>
        <ns0:spPr>
          <ns1:xfrm>
            <ns1:off x="10629900" y="6419850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r">
              <ns1:def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00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11 / 11</ns1:t>
            </ns1:r>
            <ns1:endParaRPr sz="100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  <ns0:graphicFrame>
        <ns0:nvGraphicFramePr>
          <ns0:cNvPr id="7" name="表格 6"/>
          <ns0:cNvGraphicFramePr/>
          <ns0:nvPr/>
        </ns0:nvGraphicFramePr>
        <ns0:xfrm>
          <ns1:off x="609600" y="1609725"/>
          <ns1:ext cx="10972800" cy="4162425"/>
        </ns0:xfrm>
        <ns1:graphic>
          <ns1:graphicData uri="http://schemas.openxmlformats.org/drawingml/2006/table">
            <ns1:tbl>
              <ns1:tblPr/>
              <ns1:tblGrid>
                <ns1:gridCol w="1238250"/>
                <ns1:gridCol w="1809750"/>
                <ns1:gridCol w="2447925"/>
                <ns1:gridCol w="3381375"/>
                <ns1:gridCol w="2095500"/>
              </ns1:tblGrid>
              <ns1:tr h="594632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类别</ns1:t>
                      </ns1:r>
                      <ns1:endParaRPr sz="170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工具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当前入口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适用任务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70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收费 / 注意事项</ns1:t>
                      </ns1:r>
                      <ns1:endParaRPr sz="170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DDEFE6"/>
                    </ns1:solidFill>
                  </ns1:tcPr>
                </ns1:tc>
              </ns1:tr>
              <ns1:tr h="594632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小说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笔灵AI·小说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ibiling.cn/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novel-workbench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大纲、故事续写、改稿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按购买权益；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核查长篇一致性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94632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公文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讯飞文书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gw.iflydocs.com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材料筹备、拟稿、润色、审稿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按账号试用/会员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</ns1:tr>
              <ns1:tr h="594632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报告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WPS AI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ai.wps.cn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在文档中起草、润色、续写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AI与WPS套餐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分别核对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94632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音乐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Suno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suno.com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歌词到歌曲、配乐与编辑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免费/订阅；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商用权按套餐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</ns1:tr>
              <ns1:tr h="594632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音乐语音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MiniMax Audio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minimax.io/audio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Music 3.0音乐；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Speech 2.8语音生成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平台、API、许可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分别核对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94632"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8A999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配音</ns1:t>
                      </ns1:r>
                      <ns1:endParaRPr sz="1650" b="1">
                        <ns1:solidFill>
                          <ns1:srgbClr val="18A999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魔音工坊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moyin.com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短视频、有声书、多音字与停顿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  <ns1:tc>
                  <ns1:txBody>
                    <ns1:bodyPr>
                      <ns1:spAutoFit/>
                    </ns1:bodyPr>
                    <ns1:lstStyle/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试用/会员；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  <ns1:p>
                      <ns1:pPr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sz="1650" b="1">
                          <ns1:solidFill>
                            <ns1:srgbClr val="123B5D"/>
                          </ns1:solidFill>
                          <ns1:latin typeface="Source Han Sans SC Heavy" panose="020B0500000000000000" charset="-122"/>
                          <ns1:ea typeface="Source Han Sans SC Heavy" panose="020B0500000000000000" charset="-122"/>
                          <ns1:cs typeface="Source Han Sans SC Heavy" panose="020B0500000000000000" charset="-122"/>
                        </ns1:rPr>
                        <ns1:t>部分声音另计费</ns1:t>
                      </ns1:r>
                      <ns1:endParaRPr sz="1650" b="1">
                        <ns1:solidFill>
                          <ns1:srgbClr val="123B5D"/>
                        </ns1:solidFill>
                        <ns1:latin typeface="Source Han Sans SC Heavy" panose="020B0500000000000000" charset="-122"/>
                        <ns1:ea typeface="Source Han Sans SC Heavy" panose="020B0500000000000000" charset="-122"/>
                        <ns1:cs typeface="Source Han Sans SC Heavy" panose="020B0500000000000000" charset="-122"/>
                      </ns1:endParaRPr>
                    </ns1:p>
                  </ns1:txBody>
                  <ns1:tcPr marL="76200" marR="76200" marT="57150" marB="57150" anchor="ctr">
                    <ns1:lnL w="12700" cap="flat" cmpd="sng" algn="ctr">
                      <ns1:solidFill>
                        <ns1:srgbClr val="A9D9C7"/>
                      </ns1:solidFill>
                      <ns1:prstDash val="solid"/>
                    </ns1:lnL>
                    <ns1:lnR w="12700" cap="flat" cmpd="sng" algn="ctr">
                      <ns1:solidFill>
                        <ns1:srgbClr val="A9D9C7"/>
                      </ns1:solidFill>
                      <ns1:prstDash val="solid"/>
                    </ns1:lnR>
                    <ns1:lnT w="12700" cap="flat" cmpd="sng" algn="ctr">
                      <ns1:solidFill>
                        <ns1:srgbClr val="A9D9C7"/>
                      </ns1:solidFill>
                      <ns1:prstDash val="solid"/>
                    </ns1:lnT>
                    <ns1:lnB w="12700" cap="flat" cmpd="sng" algn="ctr">
                      <ns1:solidFill>
                        <ns1:srgbClr val="A9D9C7"/>
                      </ns1:solidFill>
                      <ns1:prstDash val="solid"/>
                    </ns1:lnB>
                    <ns1:solidFill>
                      <ns1:srgbClr val="F2F9F5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body"/>
          <ns0:cNvSpPr>
            <ns1:spLocks noGrp="1"/>
          </ns0:cNvSpPr>
          <ns0:nvPr/>
        </ns0:nvSpPr>
        <ns0:spPr>
          <ns1:xfrm>
            <ns1:off x="609600" y="5895975"/>
            <ns1:ext cx="109728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defPPr>
            <ns1:lvl1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1pPr>
            <ns1:lvl2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2pPr>
            <ns1:lvl3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3pPr>
            <ns1:lvl4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4pPr>
            <ns1:lvl5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5pPr>
            <ns1:lvl6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6pPr>
            <ns1:lvl7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7pPr>
            <ns1:lvl8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8pPr>
            <ns1:lvl9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lvl9pPr>
          </ns1:lstStyle>
          <ns1:p>
            <ns1:pPr algn="l">
              <ns1:def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defRPr>
            </ns1:pPr>
            <ns1:r>
              <ns1:rPr sz="1250" b="1">
                <ns1:solidFill>
                  <ns1:srgbClr val="54707E"/>
                </ns1:solidFill>
                <ns1:latin typeface="Source Han Sans SC Heavy" panose="020B0500000000000000" charset="-122"/>
                <ns1:ea typeface="Source Han Sans SC Heavy" panose="020B0500000000000000" charset="-122"/>
                <ns1:cs typeface="Source Han Sans SC Heavy" panose="020B0500000000000000" charset="-122"/>
              </ns1:rPr>
              <ns1:t>工具入口与套餐会更新；使用前核对账号页面，音乐与配音的商用另查对应授权。</ns1:t>
            </ns1:r>
            <ns1:endParaRPr sz="1250" b="1">
              <ns1:solidFill>
                <ns1:srgbClr val="54707E"/>
              </ns1:solidFill>
              <ns1:latin typeface="Source Han Sans SC Heavy" panose="020B0500000000000000" charset="-122"/>
              <ns1:ea typeface="Source Han Sans SC Heavy" panose="020B0500000000000000" charset="-122"/>
              <ns1:cs typeface="Source Han Sans SC Heavy" panose="020B0500000000000000" charset="-122"/>
            </ns1:endParaRP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ource Han Sans SC Heavy"/>
        <a:ea typeface="Source Han Sans SC Heavy"/>
        <a:cs typeface="Source Han Sans SC Heavy"/>
      </a:majorFont>
      <a:minorFont>
        <a:latin typeface="Source Han Sans SC Heavy"/>
        <a:ea typeface="Source Han Sans SC Heavy"/>
        <a:cs typeface="Source Han Sans SC Heavy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ource Han Sans SC Heavy"/>
        <a:ea typeface=""/>
        <a:cs typeface=""/>
      </a:majorFont>
      <a:minorFont>
        <a:latin typeface="Source Han Sans SC Heavy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ource Han Sans SC Heavy"/>
        <a:ea typeface=""/>
        <a:cs typeface=""/>
      </a:majorFont>
      <a:minorFont>
        <a:latin typeface="Source Han Sans SC Heavy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